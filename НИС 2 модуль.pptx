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90" r:id="rId3"/>
    <p:sldId id="291" r:id="rId4"/>
    <p:sldId id="294" r:id="rId5"/>
    <p:sldId id="295" r:id="rId6"/>
    <p:sldId id="296" r:id="rId7"/>
    <p:sldId id="303" r:id="rId8"/>
    <p:sldId id="304" r:id="rId9"/>
    <p:sldId id="305" r:id="rId10"/>
    <p:sldId id="306" r:id="rId11"/>
    <p:sldId id="307" r:id="rId12"/>
    <p:sldId id="269" r:id="rId13"/>
    <p:sldId id="282" r:id="rId14"/>
    <p:sldId id="283" r:id="rId15"/>
    <p:sldId id="287" r:id="rId16"/>
    <p:sldId id="288" r:id="rId17"/>
    <p:sldId id="322" r:id="rId18"/>
    <p:sldId id="323" r:id="rId19"/>
    <p:sldId id="325" r:id="rId20"/>
    <p:sldId id="326" r:id="rId21"/>
    <p:sldId id="316" r:id="rId22"/>
    <p:sldId id="319" r:id="rId23"/>
    <p:sldId id="320" r:id="rId24"/>
    <p:sldId id="321" r:id="rId25"/>
    <p:sldId id="311" r:id="rId26"/>
    <p:sldId id="313" r:id="rId27"/>
    <p:sldId id="314" r:id="rId28"/>
    <p:sldId id="315" r:id="rId2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9C00B"/>
    <a:srgbClr val="1D1D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0" autoAdjust="0"/>
    <p:restoredTop sz="94660"/>
  </p:normalViewPr>
  <p:slideViewPr>
    <p:cSldViewPr snapToGrid="0">
      <p:cViewPr>
        <p:scale>
          <a:sx n="100" d="100"/>
          <a:sy n="100" d="100"/>
        </p:scale>
        <p:origin x="168" y="-164"/>
      </p:cViewPr>
      <p:guideLst>
        <p:guide orient="horz" pos="1679"/>
        <p:guide pos="2879"/>
        <p:guide pos="2536"/>
        <p:guide pos="2111"/>
        <p:guide pos="1791"/>
        <p:guide pos="1440"/>
        <p:guide pos="1056"/>
        <p:guide pos="735"/>
        <p:guide pos="4676"/>
        <p:guide/>
        <p:guide pos="3243"/>
        <p:guide pos="3603"/>
        <p:guide pos="3984"/>
        <p:guide pos="4309"/>
        <p:guide pos="340"/>
        <p:guide pos="5058"/>
        <p:guide pos="5378"/>
        <p:guide pos="5760"/>
        <p:guide orient="horz" pos="1220"/>
        <p:guide orient="horz" pos="828"/>
        <p:guide orient="horz" pos="365"/>
        <p:guide orient="horz"/>
        <p:guide orient="horz" pos="2052"/>
        <p:guide orient="horz" pos="2341"/>
        <p:guide orient="horz" pos="2843"/>
        <p:guide orient="horz" pos="32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D435C1C1-2F99-4D70-8AF6-EC2FDBD71784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469FB-4865-471C-A4F0-C836552A735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63;p14"/>
          <p:cNvPicPr/>
          <p:nvPr/>
        </p:nvPicPr>
        <p:blipFill>
          <a:blip r:embed="rId1"/>
          <a:stretch>
            <a:fillRect/>
          </a:stretch>
        </p:blipFill>
        <p:spPr>
          <a:xfrm>
            <a:off x="7022880" y="4513680"/>
            <a:ext cx="2010960" cy="570600"/>
          </a:xfrm>
          <a:prstGeom prst="rect">
            <a:avLst/>
          </a:prstGeom>
          <a:ln w="0">
            <a:noFill/>
          </a:ln>
        </p:spPr>
      </p:pic>
      <p:grpSp>
        <p:nvGrpSpPr>
          <p:cNvPr id="40" name="Группа 10"/>
          <p:cNvGrpSpPr/>
          <p:nvPr/>
        </p:nvGrpSpPr>
        <p:grpSpPr>
          <a:xfrm>
            <a:off x="-24120" y="556920"/>
            <a:ext cx="7181640" cy="271800"/>
            <a:chOff x="-24120" y="556920"/>
            <a:chExt cx="7181640" cy="271800"/>
          </a:xfrm>
        </p:grpSpPr>
        <p:sp>
          <p:nvSpPr>
            <p:cNvPr id="41" name="Google Shape;64;p14"/>
            <p:cNvSpPr/>
            <p:nvPr/>
          </p:nvSpPr>
          <p:spPr>
            <a:xfrm>
              <a:off x="-24120" y="694080"/>
              <a:ext cx="690768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42" name="Google Shape;65;p14"/>
            <p:cNvSpPr/>
            <p:nvPr/>
          </p:nvSpPr>
          <p:spPr>
            <a:xfrm>
              <a:off x="6885720" y="556920"/>
              <a:ext cx="271800" cy="271800"/>
            </a:xfrm>
            <a:prstGeom prst="ellipse">
              <a:avLst/>
            </a:pr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</p:grpSp>
      <p:sp>
        <p:nvSpPr>
          <p:cNvPr id="43" name="TextBox 8"/>
          <p:cNvSpPr/>
          <p:nvPr/>
        </p:nvSpPr>
        <p:spPr>
          <a:xfrm>
            <a:off x="360000" y="996120"/>
            <a:ext cx="8210160" cy="208153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90000"/>
              </a:lnSpc>
              <a:buNone/>
            </a:pPr>
            <a:r>
              <a:rPr lang="en-US" sz="3600" strike="noStrike" spc="-1">
                <a:solidFill>
                  <a:srgbClr val="000000"/>
                </a:solidFill>
                <a:latin typeface="Arial" panose="020B0604020202020204" pitchFamily="34" charset="0"/>
                <a:ea typeface="Roboto Bold"/>
                <a:cs typeface="Arial" panose="020B0604020202020204" pitchFamily="34" charset="0"/>
              </a:rPr>
              <a:t>Relational Tensors for Regular and </a:t>
            </a:r>
            <a:endParaRPr lang="ru-RU" sz="360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3600" strike="noStrike" spc="-1">
                <a:solidFill>
                  <a:srgbClr val="000000"/>
                </a:solidFill>
                <a:latin typeface="Arial" panose="020B0604020202020204" pitchFamily="34" charset="0"/>
                <a:ea typeface="Roboto Bold"/>
                <a:cs typeface="Arial" panose="020B0604020202020204" pitchFamily="34" charset="0"/>
              </a:rPr>
              <a:t>Chaotic Time Series: </a:t>
            </a:r>
            <a:endParaRPr lang="ru-RU" sz="360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3600" strike="noStrike" spc="-1">
                <a:solidFill>
                  <a:srgbClr val="000000"/>
                </a:solidFill>
                <a:latin typeface="Arial" panose="020B0604020202020204" pitchFamily="34" charset="0"/>
                <a:ea typeface="Roboto Bold"/>
                <a:cs typeface="Arial" panose="020B0604020202020204" pitchFamily="34" charset="0"/>
              </a:rPr>
              <a:t>Methods to Store, Re-generate, and Predict</a:t>
            </a:r>
            <a:endParaRPr lang="ru-RU" sz="360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4" name="Google Shape;55;p13"/>
          <p:cNvPicPr/>
          <p:nvPr/>
        </p:nvPicPr>
        <p:blipFill>
          <a:blip r:embed="rId2"/>
          <a:stretch>
            <a:fillRect/>
          </a:stretch>
        </p:blipFill>
        <p:spPr>
          <a:xfrm>
            <a:off x="7677000" y="343440"/>
            <a:ext cx="857880" cy="1106640"/>
          </a:xfrm>
          <a:prstGeom prst="rect">
            <a:avLst/>
          </a:prstGeom>
          <a:ln w="0">
            <a:noFill/>
          </a:ln>
        </p:spPr>
      </p:pic>
      <p:grpSp>
        <p:nvGrpSpPr>
          <p:cNvPr id="45" name="Группа 11"/>
          <p:cNvGrpSpPr/>
          <p:nvPr/>
        </p:nvGrpSpPr>
        <p:grpSpPr>
          <a:xfrm>
            <a:off x="1958400" y="3041640"/>
            <a:ext cx="7181280" cy="271800"/>
            <a:chOff x="1958400" y="3041640"/>
            <a:chExt cx="7181280" cy="271800"/>
          </a:xfrm>
        </p:grpSpPr>
        <p:sp>
          <p:nvSpPr>
            <p:cNvPr id="46" name="Google Shape;64;p14"/>
            <p:cNvSpPr/>
            <p:nvPr/>
          </p:nvSpPr>
          <p:spPr>
            <a:xfrm flipH="1">
              <a:off x="2232000" y="3178800"/>
              <a:ext cx="690768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47" name="Google Shape;65;p14"/>
            <p:cNvSpPr/>
            <p:nvPr/>
          </p:nvSpPr>
          <p:spPr>
            <a:xfrm flipH="1">
              <a:off x="1958040" y="3041640"/>
              <a:ext cx="271800" cy="271800"/>
            </a:xfrm>
            <a:prstGeom prst="ellipse">
              <a:avLst/>
            </a:pr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</p:grpSp>
      <p:sp>
        <p:nvSpPr>
          <p:cNvPr id="48" name="TextBox 14"/>
          <p:cNvSpPr/>
          <p:nvPr/>
        </p:nvSpPr>
        <p:spPr>
          <a:xfrm>
            <a:off x="126000" y="3635640"/>
            <a:ext cx="3851910" cy="129413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ts val="1600"/>
              </a:lnSpc>
              <a:spcAft>
                <a:spcPts val="600"/>
              </a:spcAft>
              <a:buNone/>
            </a:pPr>
            <a:r>
              <a:rPr lang="ru-RU" sz="1600" b="0" u="sng" strike="noStrike" spc="-1">
                <a:solidFill>
                  <a:srgbClr val="000000"/>
                </a:solidFill>
                <a:uFillTx/>
                <a:latin typeface="Arial" panose="020B0604020202020204" pitchFamily="34" charset="0"/>
                <a:ea typeface="Roboto Light"/>
                <a:cs typeface="Arial" panose="020B0604020202020204" pitchFamily="34" charset="0"/>
              </a:rPr>
              <a:t>Выполнили</a:t>
            </a:r>
            <a:r>
              <a:rPr lang="en-US" sz="1600" b="0" strike="noStrike" spc="-1">
                <a:solidFill>
                  <a:srgbClr val="000000"/>
                </a:solidFill>
                <a:latin typeface="Arial" panose="020B0604020202020204" pitchFamily="34" charset="0"/>
                <a:ea typeface="Roboto Light"/>
                <a:cs typeface="Arial" panose="020B0604020202020204" pitchFamily="34" charset="0"/>
              </a:rPr>
              <a:t>:</a:t>
            </a:r>
            <a:endParaRPr lang="ru-RU" sz="16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8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 pitchFamily="34" charset="0"/>
                <a:ea typeface="Roboto Light"/>
                <a:cs typeface="Arial" panose="020B0604020202020204" pitchFamily="34" charset="0"/>
              </a:rPr>
              <a:t>Васильев Демид, Мальков Владислав,</a:t>
            </a:r>
            <a:endParaRPr lang="ru-RU" sz="16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8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 pitchFamily="34" charset="0"/>
                <a:ea typeface="Roboto Light"/>
                <a:cs typeface="Arial" panose="020B0604020202020204" pitchFamily="34" charset="0"/>
              </a:rPr>
              <a:t>Воробьев Владислав, Горбачев Ринат</a:t>
            </a:r>
            <a:endParaRPr lang="ru-RU" sz="16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800"/>
              </a:lnSpc>
              <a:buNone/>
            </a:pPr>
            <a:endParaRPr lang="ru-RU" sz="16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8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 pitchFamily="34" charset="0"/>
                <a:ea typeface="Roboto Light"/>
                <a:cs typeface="Arial" panose="020B0604020202020204" pitchFamily="34" charset="0"/>
              </a:rPr>
              <a:t>4 курс, группа БПМИ194</a:t>
            </a:r>
            <a:endParaRPr lang="ru-RU" sz="16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15"/>
          <p:cNvSpPr/>
          <p:nvPr/>
        </p:nvSpPr>
        <p:spPr>
          <a:xfrm>
            <a:off x="6368400" y="3635640"/>
            <a:ext cx="181080" cy="597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ts val="1600"/>
              </a:lnSpc>
              <a:spcAft>
                <a:spcPts val="600"/>
              </a:spcAft>
              <a:buNone/>
            </a:pP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ts val="1800"/>
              </a:lnSpc>
              <a:buNone/>
            </a:pPr>
            <a:endParaRPr lang="ru-RU" sz="1600" b="0" strike="noStrike" spc="-1">
              <a:latin typeface="Arial" panose="020B0604020202020204"/>
            </a:endParaRPr>
          </a:p>
        </p:txBody>
      </p:sp>
      <p:sp>
        <p:nvSpPr>
          <p:cNvPr id="50" name="TextBox 16"/>
          <p:cNvSpPr/>
          <p:nvPr/>
        </p:nvSpPr>
        <p:spPr>
          <a:xfrm>
            <a:off x="3947040" y="4705200"/>
            <a:ext cx="1122045" cy="31940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ts val="1800"/>
              </a:lnSpc>
              <a:buNone/>
            </a:pPr>
            <a:r>
              <a:rPr lang="ru-RU" sz="1200" b="0" strike="noStrike" spc="-1">
                <a:solidFill>
                  <a:srgbClr val="000000"/>
                </a:solidFill>
                <a:latin typeface="Arial" panose="020B0604020202020204" pitchFamily="34" charset="0"/>
                <a:ea typeface="Roboto Light"/>
                <a:cs typeface="Arial" panose="020B0604020202020204" pitchFamily="34" charset="0"/>
              </a:rPr>
              <a:t>Москва, 2022</a:t>
            </a:r>
            <a:endParaRPr lang="ru-RU" sz="12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63;p14"/>
          <p:cNvPicPr/>
          <p:nvPr/>
        </p:nvPicPr>
        <p:blipFill>
          <a:blip r:embed="rId1"/>
          <a:stretch>
            <a:fillRect/>
          </a:stretch>
        </p:blipFill>
        <p:spPr>
          <a:xfrm>
            <a:off x="7022880" y="4513680"/>
            <a:ext cx="2010960" cy="570600"/>
          </a:xfrm>
          <a:prstGeom prst="rect">
            <a:avLst/>
          </a:prstGeom>
          <a:ln w="0">
            <a:noFill/>
          </a:ln>
        </p:spPr>
      </p:pic>
      <p:grpSp>
        <p:nvGrpSpPr>
          <p:cNvPr id="52" name="Группа 5"/>
          <p:cNvGrpSpPr/>
          <p:nvPr/>
        </p:nvGrpSpPr>
        <p:grpSpPr>
          <a:xfrm>
            <a:off x="0" y="1178280"/>
            <a:ext cx="7181640" cy="271800"/>
            <a:chOff x="0" y="1178280"/>
            <a:chExt cx="7181640" cy="271800"/>
          </a:xfrm>
        </p:grpSpPr>
        <p:sp>
          <p:nvSpPr>
            <p:cNvPr id="53" name="Google Shape;64;p14"/>
            <p:cNvSpPr/>
            <p:nvPr/>
          </p:nvSpPr>
          <p:spPr>
            <a:xfrm>
              <a:off x="0" y="1315440"/>
              <a:ext cx="690768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54" name="Google Shape;65;p14"/>
            <p:cNvSpPr/>
            <p:nvPr/>
          </p:nvSpPr>
          <p:spPr>
            <a:xfrm>
              <a:off x="6909840" y="1178280"/>
              <a:ext cx="271800" cy="271800"/>
            </a:xfrm>
            <a:prstGeom prst="ellipse">
              <a:avLst/>
            </a:pr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</p:grpSp>
      <p:pic>
        <p:nvPicPr>
          <p:cNvPr id="55" name="Google Shape;55;p13"/>
          <p:cNvPicPr/>
          <p:nvPr/>
        </p:nvPicPr>
        <p:blipFill>
          <a:blip r:embed="rId2"/>
          <a:stretch>
            <a:fillRect/>
          </a:stretch>
        </p:blipFill>
        <p:spPr>
          <a:xfrm>
            <a:off x="7677000" y="343440"/>
            <a:ext cx="857880" cy="1106640"/>
          </a:xfrm>
          <a:prstGeom prst="rect">
            <a:avLst/>
          </a:prstGeom>
          <a:ln w="0">
            <a:noFill/>
          </a:ln>
        </p:spPr>
      </p:pic>
      <p:sp>
        <p:nvSpPr>
          <p:cNvPr id="56" name="TextBox 9"/>
          <p:cNvSpPr/>
          <p:nvPr/>
        </p:nvSpPr>
        <p:spPr>
          <a:xfrm>
            <a:off x="465840" y="612720"/>
            <a:ext cx="8210160" cy="60134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ts val="4000"/>
              </a:lnSpc>
              <a:buNone/>
            </a:pPr>
            <a:r>
              <a:rPr lang="ru-RU" sz="4000" b="0" strike="noStrike" spc="-100">
                <a:solidFill>
                  <a:srgbClr val="000000"/>
                </a:solidFill>
                <a:latin typeface="Arial" panose="020B0604020202020204" pitchFamily="34" charset="0"/>
                <a:ea typeface="Roboto Bold"/>
                <a:cs typeface="Arial" panose="020B0604020202020204" pitchFamily="34" charset="0"/>
              </a:rPr>
              <a:t>Основное о проекте</a:t>
            </a:r>
            <a:endParaRPr lang="ru-RU" sz="40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23"/>
          <p:cNvSpPr/>
          <p:nvPr/>
        </p:nvSpPr>
        <p:spPr>
          <a:xfrm>
            <a:off x="3478680" y="2997000"/>
            <a:ext cx="179640" cy="623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ts val="1800"/>
              </a:lnSpc>
              <a:spcAft>
                <a:spcPts val="600"/>
              </a:spcAft>
              <a:buNone/>
            </a:pP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ts val="1800"/>
              </a:lnSpc>
              <a:spcAft>
                <a:spcPts val="600"/>
              </a:spcAft>
              <a:buNone/>
            </a:pPr>
            <a:endParaRPr lang="ru-RU" sz="1600" b="0" strike="noStrike" spc="-1">
              <a:latin typeface="Arial" panose="020B0604020202020204"/>
            </a:endParaRPr>
          </a:p>
        </p:txBody>
      </p:sp>
      <p:sp>
        <p:nvSpPr>
          <p:cNvPr id="62" name="Прямоугольник 61"/>
          <p:cNvSpPr/>
          <p:nvPr/>
        </p:nvSpPr>
        <p:spPr>
          <a:xfrm>
            <a:off x="393470" y="1793355"/>
            <a:ext cx="8354160" cy="213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Авторы исследования предоставляют способы для хранения информации и</a:t>
            </a:r>
            <a:endParaRPr lang="ru-RU" sz="1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генерации временных рядов с помощью сохраненной тем способом инфор-</a:t>
            </a:r>
            <a:endParaRPr lang="ru-RU" sz="1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маци прогнозирование для хаотических и регулярных рядов</a:t>
            </a:r>
            <a:endParaRPr lang="ru-RU" sz="1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ru-RU" sz="1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Авторы считают, что анализ временных рядов по сути есть компрессия</a:t>
            </a:r>
            <a:endParaRPr lang="ru-RU" sz="1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данных, поскольку как они считают что любой подход может считаться</a:t>
            </a:r>
            <a:endParaRPr lang="ru-RU" sz="1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как представление потенциально бесконечного временного ряда с помощью</a:t>
            </a:r>
            <a:endParaRPr lang="ru-RU" sz="1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использования конечного числа.</a:t>
            </a:r>
            <a:endParaRPr lang="ru-RU" sz="18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 1"/>
          <p:cNvPicPr/>
          <p:nvPr/>
        </p:nvPicPr>
        <p:blipFill>
          <a:blip r:embed="rId1"/>
          <a:stretch>
            <a:fillRect/>
          </a:stretch>
        </p:blipFill>
        <p:spPr>
          <a:xfrm>
            <a:off x="7022880" y="4513680"/>
            <a:ext cx="2010960" cy="570600"/>
          </a:xfrm>
          <a:prstGeom prst="rect">
            <a:avLst/>
          </a:prstGeom>
          <a:ln w="0">
            <a:noFill/>
          </a:ln>
        </p:spPr>
      </p:pic>
      <p:grpSp>
        <p:nvGrpSpPr>
          <p:cNvPr id="64" name="Группа 1"/>
          <p:cNvGrpSpPr/>
          <p:nvPr/>
        </p:nvGrpSpPr>
        <p:grpSpPr>
          <a:xfrm>
            <a:off x="0" y="773150"/>
            <a:ext cx="7181640" cy="271800"/>
            <a:chOff x="0" y="1178280"/>
            <a:chExt cx="7181640" cy="271800"/>
          </a:xfrm>
        </p:grpSpPr>
        <p:sp>
          <p:nvSpPr>
            <p:cNvPr id="65" name="Google Shape;64;p 1"/>
            <p:cNvSpPr/>
            <p:nvPr/>
          </p:nvSpPr>
          <p:spPr>
            <a:xfrm>
              <a:off x="0" y="1315440"/>
              <a:ext cx="690768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66" name="Google Shape;65;p 1"/>
            <p:cNvSpPr/>
            <p:nvPr/>
          </p:nvSpPr>
          <p:spPr>
            <a:xfrm>
              <a:off x="6909840" y="1178280"/>
              <a:ext cx="271800" cy="271800"/>
            </a:xfrm>
            <a:prstGeom prst="ellipse">
              <a:avLst/>
            </a:pr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</p:grpSp>
      <p:pic>
        <p:nvPicPr>
          <p:cNvPr id="67" name="Google Shape;55;p 1"/>
          <p:cNvPicPr/>
          <p:nvPr/>
        </p:nvPicPr>
        <p:blipFill>
          <a:blip r:embed="rId2"/>
          <a:stretch>
            <a:fillRect/>
          </a:stretch>
        </p:blipFill>
        <p:spPr>
          <a:xfrm>
            <a:off x="7677000" y="343440"/>
            <a:ext cx="857880" cy="1106640"/>
          </a:xfrm>
          <a:prstGeom prst="rect">
            <a:avLst/>
          </a:prstGeom>
          <a:ln w="0">
            <a:noFill/>
          </a:ln>
        </p:spPr>
      </p:pic>
      <p:sp>
        <p:nvSpPr>
          <p:cNvPr id="68" name="TextBox 1"/>
          <p:cNvSpPr/>
          <p:nvPr/>
        </p:nvSpPr>
        <p:spPr>
          <a:xfrm>
            <a:off x="465840" y="612720"/>
            <a:ext cx="8210160" cy="59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69" name="TextBox 2"/>
          <p:cNvSpPr/>
          <p:nvPr/>
        </p:nvSpPr>
        <p:spPr>
          <a:xfrm>
            <a:off x="631080" y="2206800"/>
            <a:ext cx="679212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0" name="TextBox 3"/>
          <p:cNvSpPr/>
          <p:nvPr/>
        </p:nvSpPr>
        <p:spPr>
          <a:xfrm>
            <a:off x="465840" y="1906560"/>
            <a:ext cx="315360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1" name="TextBox 4"/>
          <p:cNvSpPr/>
          <p:nvPr/>
        </p:nvSpPr>
        <p:spPr>
          <a:xfrm>
            <a:off x="3446640" y="2997000"/>
            <a:ext cx="24336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2" name="TextBox 5"/>
          <p:cNvSpPr/>
          <p:nvPr/>
        </p:nvSpPr>
        <p:spPr>
          <a:xfrm>
            <a:off x="465840" y="2665800"/>
            <a:ext cx="583272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3" name="Прямоугольник 72"/>
          <p:cNvSpPr/>
          <p:nvPr/>
        </p:nvSpPr>
        <p:spPr>
          <a:xfrm>
            <a:off x="315505" y="224405"/>
            <a:ext cx="46767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Arial" panose="020B0604020202020204" pitchFamily="34" charset="0"/>
                <a:ea typeface="Roboto Bold"/>
                <a:cs typeface="Arial" panose="020B0604020202020204" pitchFamily="34" charset="0"/>
              </a:rPr>
              <a:t>Про сжатие</a:t>
            </a:r>
            <a:endParaRPr lang="ru-RU" sz="40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Прямоугольник 73"/>
          <p:cNvSpPr/>
          <p:nvPr/>
        </p:nvSpPr>
        <p:spPr>
          <a:xfrm>
            <a:off x="61695" y="1208520"/>
            <a:ext cx="8879760" cy="3416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Любое представление временного ряда — это trade-off между двумя противоре-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чащами условиями (особенно это видно в хаотических рядах):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1. Презентовать временной ряд конечным числом параметров модели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2. В то же время количество параметров должно быть достаточно большим,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 чтобы мы могли предоставить адекватную репрезентацию модели.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Для исправления противоречия пользуются критериями качества репрезентации.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Это позволяет оценить различные структуры и алгоритмы, что используются для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их заполнения. Применяем к начальным и сгенерированным данным.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Можно использовать и просто среднюю ошибку, но авторы статьи используют: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Высшие экспоненты Ляпунова, полученные алгоритмом Розенштейна,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а также автокорелляционная функция.</a:t>
            </a:r>
            <a:endParaRPr lang="ru-RU" sz="16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63;p 4"/>
          <p:cNvPicPr/>
          <p:nvPr/>
        </p:nvPicPr>
        <p:blipFill>
          <a:blip r:embed="rId1"/>
          <a:stretch>
            <a:fillRect/>
          </a:stretch>
        </p:blipFill>
        <p:spPr>
          <a:xfrm>
            <a:off x="7022880" y="4513680"/>
            <a:ext cx="2010960" cy="570600"/>
          </a:xfrm>
          <a:prstGeom prst="rect">
            <a:avLst/>
          </a:prstGeom>
          <a:ln w="0">
            <a:noFill/>
          </a:ln>
        </p:spPr>
      </p:pic>
      <p:grpSp>
        <p:nvGrpSpPr>
          <p:cNvPr id="76" name="Группа 4"/>
          <p:cNvGrpSpPr/>
          <p:nvPr/>
        </p:nvGrpSpPr>
        <p:grpSpPr>
          <a:xfrm>
            <a:off x="0" y="1178280"/>
            <a:ext cx="7181640" cy="271800"/>
            <a:chOff x="0" y="1178280"/>
            <a:chExt cx="7181640" cy="271800"/>
          </a:xfrm>
        </p:grpSpPr>
        <p:sp>
          <p:nvSpPr>
            <p:cNvPr id="77" name="Google Shape;64;p 4"/>
            <p:cNvSpPr/>
            <p:nvPr/>
          </p:nvSpPr>
          <p:spPr>
            <a:xfrm>
              <a:off x="0" y="1315440"/>
              <a:ext cx="690768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78" name="Google Shape;65;p 4"/>
            <p:cNvSpPr/>
            <p:nvPr/>
          </p:nvSpPr>
          <p:spPr>
            <a:xfrm>
              <a:off x="6909840" y="1178280"/>
              <a:ext cx="271800" cy="271800"/>
            </a:xfrm>
            <a:prstGeom prst="ellipse">
              <a:avLst/>
            </a:pr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</p:grpSp>
      <p:pic>
        <p:nvPicPr>
          <p:cNvPr id="79" name="Google Shape;55;p 4"/>
          <p:cNvPicPr/>
          <p:nvPr/>
        </p:nvPicPr>
        <p:blipFill>
          <a:blip r:embed="rId2"/>
          <a:stretch>
            <a:fillRect/>
          </a:stretch>
        </p:blipFill>
        <p:spPr>
          <a:xfrm>
            <a:off x="7677000" y="343440"/>
            <a:ext cx="857880" cy="1106640"/>
          </a:xfrm>
          <a:prstGeom prst="rect">
            <a:avLst/>
          </a:prstGeom>
          <a:ln w="0">
            <a:noFill/>
          </a:ln>
        </p:spPr>
      </p:pic>
      <p:sp>
        <p:nvSpPr>
          <p:cNvPr id="80" name="TextBox 24"/>
          <p:cNvSpPr/>
          <p:nvPr/>
        </p:nvSpPr>
        <p:spPr>
          <a:xfrm>
            <a:off x="324870" y="556205"/>
            <a:ext cx="8210160" cy="59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1" name="TextBox 25"/>
          <p:cNvSpPr/>
          <p:nvPr/>
        </p:nvSpPr>
        <p:spPr>
          <a:xfrm>
            <a:off x="631080" y="2206800"/>
            <a:ext cx="679212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2" name="TextBox 26"/>
          <p:cNvSpPr/>
          <p:nvPr/>
        </p:nvSpPr>
        <p:spPr>
          <a:xfrm>
            <a:off x="465840" y="1906560"/>
            <a:ext cx="315360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3" name="TextBox 28"/>
          <p:cNvSpPr/>
          <p:nvPr/>
        </p:nvSpPr>
        <p:spPr>
          <a:xfrm>
            <a:off x="3446640" y="2997000"/>
            <a:ext cx="24336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4" name="TextBox 29"/>
          <p:cNvSpPr/>
          <p:nvPr/>
        </p:nvSpPr>
        <p:spPr>
          <a:xfrm>
            <a:off x="465840" y="2665800"/>
            <a:ext cx="583272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5" name="Прямоугольник 84"/>
          <p:cNvSpPr/>
          <p:nvPr/>
        </p:nvSpPr>
        <p:spPr>
          <a:xfrm>
            <a:off x="466000" y="394585"/>
            <a:ext cx="46767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Arial" panose="020B0604020202020204" pitchFamily="34" charset="0"/>
                <a:ea typeface="Roboto Bold"/>
                <a:cs typeface="Arial" panose="020B0604020202020204" pitchFamily="34" charset="0"/>
              </a:rPr>
              <a:t>Про сжатие</a:t>
            </a:r>
            <a:endParaRPr lang="ru-RU" sz="40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Прямоугольник 85"/>
          <p:cNvSpPr/>
          <p:nvPr/>
        </p:nvSpPr>
        <p:spPr>
          <a:xfrm>
            <a:off x="180000" y="1440000"/>
            <a:ext cx="8849160" cy="3672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Статья использует реляционный Тензор, как способ компрессии/репрезентации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данных. Алгоритмы заполняют Тензор, а также генерируют временной ряд из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него. Тензор позволяет работать с многовариантными данными (временной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ряд состоит из более чем одного временной зависимой переменной и зависимы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не только от прошлых значений, но и от друг друга), а также с данными с нере-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гулярной выборкой (неравномерные интервалы между двумя замерами).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Однако поскольку у нас может быть не-марковость системы, количество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элементов в тензоре может быть довольно большим, поэтому нам надо избегать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комбинаторного взрыва (резкий рост временной сложности алгоритма).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Для этого будем использовать особые алгоритмы (см. дальше), вроде алгоритма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колонии муравьев (алгоритма основанные на motif — ранее неизвестная,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часто встречаемая закономерность в временном ряду)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ru-RU" sz="16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63;p 2"/>
          <p:cNvPicPr/>
          <p:nvPr/>
        </p:nvPicPr>
        <p:blipFill>
          <a:blip r:embed="rId1"/>
          <a:stretch>
            <a:fillRect/>
          </a:stretch>
        </p:blipFill>
        <p:spPr>
          <a:xfrm>
            <a:off x="7022880" y="4513680"/>
            <a:ext cx="2010960" cy="570600"/>
          </a:xfrm>
          <a:prstGeom prst="rect">
            <a:avLst/>
          </a:prstGeom>
          <a:ln w="0">
            <a:noFill/>
          </a:ln>
        </p:spPr>
      </p:pic>
      <p:grpSp>
        <p:nvGrpSpPr>
          <p:cNvPr id="88" name="Группа 2"/>
          <p:cNvGrpSpPr/>
          <p:nvPr/>
        </p:nvGrpSpPr>
        <p:grpSpPr>
          <a:xfrm>
            <a:off x="0" y="1178280"/>
            <a:ext cx="7181640" cy="271800"/>
            <a:chOff x="0" y="1178280"/>
            <a:chExt cx="7181640" cy="271800"/>
          </a:xfrm>
        </p:grpSpPr>
        <p:sp>
          <p:nvSpPr>
            <p:cNvPr id="89" name="Google Shape;64;p 2"/>
            <p:cNvSpPr/>
            <p:nvPr/>
          </p:nvSpPr>
          <p:spPr>
            <a:xfrm>
              <a:off x="0" y="1315440"/>
              <a:ext cx="690768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90" name="Google Shape;65;p 2"/>
            <p:cNvSpPr/>
            <p:nvPr/>
          </p:nvSpPr>
          <p:spPr>
            <a:xfrm>
              <a:off x="6909840" y="1178280"/>
              <a:ext cx="271800" cy="271800"/>
            </a:xfrm>
            <a:prstGeom prst="ellipse">
              <a:avLst/>
            </a:pr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</p:grpSp>
      <p:pic>
        <p:nvPicPr>
          <p:cNvPr id="91" name="Google Shape;55;p 2"/>
          <p:cNvPicPr/>
          <p:nvPr/>
        </p:nvPicPr>
        <p:blipFill>
          <a:blip r:embed="rId2"/>
          <a:stretch>
            <a:fillRect/>
          </a:stretch>
        </p:blipFill>
        <p:spPr>
          <a:xfrm>
            <a:off x="7677000" y="343440"/>
            <a:ext cx="857880" cy="1106640"/>
          </a:xfrm>
          <a:prstGeom prst="rect">
            <a:avLst/>
          </a:prstGeom>
          <a:ln w="0">
            <a:noFill/>
          </a:ln>
        </p:spPr>
      </p:pic>
      <p:sp>
        <p:nvSpPr>
          <p:cNvPr id="92" name="TextBox 6"/>
          <p:cNvSpPr/>
          <p:nvPr/>
        </p:nvSpPr>
        <p:spPr>
          <a:xfrm>
            <a:off x="465840" y="612720"/>
            <a:ext cx="8210160" cy="59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93" name="TextBox 7"/>
          <p:cNvSpPr/>
          <p:nvPr/>
        </p:nvSpPr>
        <p:spPr>
          <a:xfrm>
            <a:off x="631080" y="2206800"/>
            <a:ext cx="679212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94" name="TextBox 10"/>
          <p:cNvSpPr/>
          <p:nvPr/>
        </p:nvSpPr>
        <p:spPr>
          <a:xfrm>
            <a:off x="465840" y="1906560"/>
            <a:ext cx="315360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95" name="TextBox 11"/>
          <p:cNvSpPr/>
          <p:nvPr/>
        </p:nvSpPr>
        <p:spPr>
          <a:xfrm>
            <a:off x="3446640" y="2997000"/>
            <a:ext cx="24336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96" name="TextBox 12"/>
          <p:cNvSpPr/>
          <p:nvPr/>
        </p:nvSpPr>
        <p:spPr>
          <a:xfrm>
            <a:off x="465840" y="2665800"/>
            <a:ext cx="583272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97" name="Прямоугольник 96"/>
          <p:cNvSpPr/>
          <p:nvPr/>
        </p:nvSpPr>
        <p:spPr>
          <a:xfrm>
            <a:off x="287905" y="37125"/>
            <a:ext cx="5938560" cy="1171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Arial" panose="020B0604020202020204" pitchFamily="34" charset="0"/>
                <a:ea typeface="Roboto Bold"/>
                <a:cs typeface="Arial" panose="020B0604020202020204" pitchFamily="34" charset="0"/>
              </a:rPr>
              <a:t>Критерии качества репрезентации</a:t>
            </a:r>
            <a:endParaRPr lang="ru-RU" sz="36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Прямоугольник 97"/>
          <p:cNvSpPr/>
          <p:nvPr/>
        </p:nvSpPr>
        <p:spPr>
          <a:xfrm>
            <a:off x="73440" y="1613880"/>
            <a:ext cx="7788600" cy="1624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Не-марковость: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A non-Markovian process is a stochastic process that does not exhibit the 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Markov property.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The Markov property, sometimes known as the memoryless property,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states that the conditional probability of a future state is 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only dependent on the present state (and is independent of any prior state).</a:t>
            </a:r>
            <a:endParaRPr lang="ru-RU" sz="1600" b="0" strike="noStrike" spc="-1">
              <a:latin typeface="Arial" panose="020B0604020202020204"/>
            </a:endParaRPr>
          </a:p>
        </p:txBody>
      </p:sp>
      <p:pic>
        <p:nvPicPr>
          <p:cNvPr id="100" name="Изображение 99"/>
          <p:cNvPicPr/>
          <p:nvPr/>
        </p:nvPicPr>
        <p:blipFill>
          <a:blip r:embed="rId3"/>
          <a:stretch>
            <a:fillRect/>
          </a:stretch>
        </p:blipFill>
        <p:spPr>
          <a:xfrm>
            <a:off x="1624365" y="3724400"/>
            <a:ext cx="5398560" cy="975240"/>
          </a:xfrm>
          <a:prstGeom prst="rect">
            <a:avLst/>
          </a:prstGeom>
          <a:ln w="0">
            <a:noFill/>
          </a:ln>
        </p:spPr>
      </p:pic>
      <p:sp>
        <p:nvSpPr>
          <p:cNvPr id="101" name="Текстовое поле 100"/>
          <p:cNvSpPr txBox="1"/>
          <p:nvPr/>
        </p:nvSpPr>
        <p:spPr>
          <a:xfrm>
            <a:off x="102795" y="3249810"/>
            <a:ext cx="85734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ru-RU" sz="1800" b="0" strike="noStrike" spc="-1">
                <a:latin typeface="Arial" panose="020B0604020202020204"/>
              </a:rPr>
              <a:t>Показатель Ляпунова динамической системы (скорость удаления траекторий):</a:t>
            </a:r>
            <a:endParaRPr lang="ru-RU" sz="18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63;p 5"/>
          <p:cNvPicPr/>
          <p:nvPr/>
        </p:nvPicPr>
        <p:blipFill>
          <a:blip r:embed="rId1"/>
          <a:stretch>
            <a:fillRect/>
          </a:stretch>
        </p:blipFill>
        <p:spPr>
          <a:xfrm>
            <a:off x="7022880" y="4513680"/>
            <a:ext cx="2010960" cy="570600"/>
          </a:xfrm>
          <a:prstGeom prst="rect">
            <a:avLst/>
          </a:prstGeom>
          <a:ln w="0">
            <a:noFill/>
          </a:ln>
        </p:spPr>
      </p:pic>
      <p:grpSp>
        <p:nvGrpSpPr>
          <p:cNvPr id="103" name="Группа 6"/>
          <p:cNvGrpSpPr/>
          <p:nvPr/>
        </p:nvGrpSpPr>
        <p:grpSpPr>
          <a:xfrm>
            <a:off x="31750" y="1342110"/>
            <a:ext cx="7181640" cy="271800"/>
            <a:chOff x="0" y="1178280"/>
            <a:chExt cx="7181640" cy="271800"/>
          </a:xfrm>
        </p:grpSpPr>
        <p:sp>
          <p:nvSpPr>
            <p:cNvPr id="104" name="Google Shape;64;p 5"/>
            <p:cNvSpPr/>
            <p:nvPr/>
          </p:nvSpPr>
          <p:spPr>
            <a:xfrm>
              <a:off x="0" y="1315440"/>
              <a:ext cx="690768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105" name="Google Shape;65;p 5"/>
            <p:cNvSpPr/>
            <p:nvPr/>
          </p:nvSpPr>
          <p:spPr>
            <a:xfrm>
              <a:off x="6909840" y="1178280"/>
              <a:ext cx="271800" cy="271800"/>
            </a:xfrm>
            <a:prstGeom prst="ellipse">
              <a:avLst/>
            </a:pr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</p:grpSp>
      <p:pic>
        <p:nvPicPr>
          <p:cNvPr id="106" name="Google Shape;55;p 5"/>
          <p:cNvPicPr/>
          <p:nvPr/>
        </p:nvPicPr>
        <p:blipFill>
          <a:blip r:embed="rId2"/>
          <a:stretch>
            <a:fillRect/>
          </a:stretch>
        </p:blipFill>
        <p:spPr>
          <a:xfrm>
            <a:off x="7677000" y="343440"/>
            <a:ext cx="857880" cy="1106640"/>
          </a:xfrm>
          <a:prstGeom prst="rect">
            <a:avLst/>
          </a:prstGeom>
          <a:ln w="0">
            <a:noFill/>
          </a:ln>
        </p:spPr>
      </p:pic>
      <p:sp>
        <p:nvSpPr>
          <p:cNvPr id="107" name="TextBox 30"/>
          <p:cNvSpPr/>
          <p:nvPr/>
        </p:nvSpPr>
        <p:spPr>
          <a:xfrm>
            <a:off x="465840" y="612720"/>
            <a:ext cx="8210160" cy="59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08" name="TextBox 31"/>
          <p:cNvSpPr/>
          <p:nvPr/>
        </p:nvSpPr>
        <p:spPr>
          <a:xfrm>
            <a:off x="631080" y="2206800"/>
            <a:ext cx="679212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09" name="TextBox 32"/>
          <p:cNvSpPr/>
          <p:nvPr/>
        </p:nvSpPr>
        <p:spPr>
          <a:xfrm>
            <a:off x="465840" y="1906560"/>
            <a:ext cx="315360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10" name="TextBox 33"/>
          <p:cNvSpPr/>
          <p:nvPr/>
        </p:nvSpPr>
        <p:spPr>
          <a:xfrm>
            <a:off x="3446640" y="2997000"/>
            <a:ext cx="24336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11" name="TextBox 34"/>
          <p:cNvSpPr/>
          <p:nvPr/>
        </p:nvSpPr>
        <p:spPr>
          <a:xfrm>
            <a:off x="465840" y="2665800"/>
            <a:ext cx="583272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12" name="Прямоугольник 111"/>
          <p:cNvSpPr/>
          <p:nvPr/>
        </p:nvSpPr>
        <p:spPr>
          <a:xfrm>
            <a:off x="540000" y="180000"/>
            <a:ext cx="5938560" cy="1171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Arial" panose="020B0604020202020204" pitchFamily="34" charset="0"/>
                <a:ea typeface="Roboto Bold"/>
                <a:cs typeface="Arial" panose="020B0604020202020204" pitchFamily="34" charset="0"/>
              </a:rPr>
              <a:t>Критерии качества репрезентации</a:t>
            </a:r>
            <a:endParaRPr lang="ru-RU" sz="36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Прямоугольник 112"/>
          <p:cNvSpPr/>
          <p:nvPr/>
        </p:nvSpPr>
        <p:spPr>
          <a:xfrm>
            <a:off x="73440" y="1613880"/>
            <a:ext cx="8559720" cy="856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Автокорреляционная функция: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Зависимость взаимосвязи между функции и ее сдвинутой копией от величины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временного сдвига. 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Неформально — это сходство двух наблюдений случайной переменной как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функция отставания во времени (time lag) между ними.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latin typeface="Arial" panose="020B0604020202020204"/>
                <a:ea typeface="DejaVu Sans"/>
              </a:rPr>
              <a:t>Используется для нахождения паттернов.</a:t>
            </a:r>
            <a:endParaRPr lang="ru-RU" sz="1600" b="0" strike="noStrike" spc="-1">
              <a:latin typeface="Arial" panose="020B0604020202020204"/>
            </a:endParaRPr>
          </a:p>
        </p:txBody>
      </p:sp>
      <p:pic>
        <p:nvPicPr>
          <p:cNvPr id="114" name="Изображение 113"/>
          <p:cNvPicPr/>
          <p:nvPr/>
        </p:nvPicPr>
        <p:blipFill>
          <a:blip r:embed="rId3"/>
          <a:stretch>
            <a:fillRect/>
          </a:stretch>
        </p:blipFill>
        <p:spPr>
          <a:xfrm>
            <a:off x="5040000" y="2982600"/>
            <a:ext cx="1486440" cy="1979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63;p 3"/>
          <p:cNvPicPr/>
          <p:nvPr/>
        </p:nvPicPr>
        <p:blipFill>
          <a:blip r:embed="rId1"/>
          <a:stretch>
            <a:fillRect/>
          </a:stretch>
        </p:blipFill>
        <p:spPr>
          <a:xfrm>
            <a:off x="7022880" y="4513680"/>
            <a:ext cx="2010960" cy="570600"/>
          </a:xfrm>
          <a:prstGeom prst="rect">
            <a:avLst/>
          </a:prstGeom>
          <a:ln w="0">
            <a:noFill/>
          </a:ln>
        </p:spPr>
      </p:pic>
      <p:grpSp>
        <p:nvGrpSpPr>
          <p:cNvPr id="116" name="Группа 3"/>
          <p:cNvGrpSpPr/>
          <p:nvPr/>
        </p:nvGrpSpPr>
        <p:grpSpPr>
          <a:xfrm>
            <a:off x="0" y="830935"/>
            <a:ext cx="7181640" cy="271800"/>
            <a:chOff x="0" y="1178280"/>
            <a:chExt cx="7181640" cy="271800"/>
          </a:xfrm>
        </p:grpSpPr>
        <p:sp>
          <p:nvSpPr>
            <p:cNvPr id="117" name="Google Shape;64;p 3"/>
            <p:cNvSpPr/>
            <p:nvPr/>
          </p:nvSpPr>
          <p:spPr>
            <a:xfrm>
              <a:off x="0" y="1315440"/>
              <a:ext cx="690768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118" name="Google Shape;65;p 3"/>
            <p:cNvSpPr/>
            <p:nvPr/>
          </p:nvSpPr>
          <p:spPr>
            <a:xfrm>
              <a:off x="6909840" y="1178280"/>
              <a:ext cx="271800" cy="271800"/>
            </a:xfrm>
            <a:prstGeom prst="ellipse">
              <a:avLst/>
            </a:pr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</p:grpSp>
      <p:pic>
        <p:nvPicPr>
          <p:cNvPr id="119" name="Google Shape;55;p 3"/>
          <p:cNvPicPr/>
          <p:nvPr/>
        </p:nvPicPr>
        <p:blipFill>
          <a:blip r:embed="rId2"/>
          <a:stretch>
            <a:fillRect/>
          </a:stretch>
        </p:blipFill>
        <p:spPr>
          <a:xfrm>
            <a:off x="7677000" y="343440"/>
            <a:ext cx="857880" cy="1106640"/>
          </a:xfrm>
          <a:prstGeom prst="rect">
            <a:avLst/>
          </a:prstGeom>
          <a:ln w="0">
            <a:noFill/>
          </a:ln>
        </p:spPr>
      </p:pic>
      <p:sp>
        <p:nvSpPr>
          <p:cNvPr id="120" name="TextBox 13"/>
          <p:cNvSpPr/>
          <p:nvPr/>
        </p:nvSpPr>
        <p:spPr>
          <a:xfrm>
            <a:off x="465840" y="612720"/>
            <a:ext cx="8210160" cy="59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1" name="TextBox 17"/>
          <p:cNvSpPr/>
          <p:nvPr/>
        </p:nvSpPr>
        <p:spPr>
          <a:xfrm>
            <a:off x="180000" y="763200"/>
            <a:ext cx="679212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2" name="TextBox 18"/>
          <p:cNvSpPr/>
          <p:nvPr/>
        </p:nvSpPr>
        <p:spPr>
          <a:xfrm>
            <a:off x="465840" y="1906560"/>
            <a:ext cx="315360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3" name="TextBox 20"/>
          <p:cNvSpPr/>
          <p:nvPr/>
        </p:nvSpPr>
        <p:spPr>
          <a:xfrm>
            <a:off x="3446640" y="2997000"/>
            <a:ext cx="24336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4" name="TextBox 21"/>
          <p:cNvSpPr/>
          <p:nvPr/>
        </p:nvSpPr>
        <p:spPr>
          <a:xfrm>
            <a:off x="465840" y="2665800"/>
            <a:ext cx="583272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5" name="Прямоугольник 124"/>
          <p:cNvSpPr/>
          <p:nvPr/>
        </p:nvSpPr>
        <p:spPr>
          <a:xfrm>
            <a:off x="-8687880" y="1800000"/>
            <a:ext cx="180360" cy="1926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ru-RU" sz="2800" b="0" strike="noStrike" spc="-1"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ru-RU" sz="2800" b="0" strike="noStrike" spc="-1"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ru-RU" sz="2800" b="0" strike="noStrike" spc="-1"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ru-RU" sz="2800" b="0" strike="noStrike" spc="-1">
              <a:latin typeface="Arial" panose="020B0604020202020204"/>
            </a:endParaRPr>
          </a:p>
        </p:txBody>
      </p:sp>
      <p:sp>
        <p:nvSpPr>
          <p:cNvPr id="126" name="Прямоугольник 125"/>
          <p:cNvSpPr/>
          <p:nvPr/>
        </p:nvSpPr>
        <p:spPr>
          <a:xfrm>
            <a:off x="750960" y="293400"/>
            <a:ext cx="5368680" cy="622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Arial" panose="020B0604020202020204" pitchFamily="34" charset="0"/>
                <a:ea typeface="Roboto Bold"/>
                <a:cs typeface="Arial" panose="020B0604020202020204" pitchFamily="34" charset="0"/>
              </a:rPr>
              <a:t>Постановка задачи</a:t>
            </a:r>
            <a:endParaRPr lang="ru-RU" sz="36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Прямоугольник 126"/>
          <p:cNvSpPr/>
          <p:nvPr/>
        </p:nvSpPr>
        <p:spPr>
          <a:xfrm>
            <a:off x="295200" y="1675800"/>
            <a:ext cx="180360" cy="60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endParaRPr lang="ru-RU" sz="1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ru-RU" sz="1800" b="0" strike="noStrike" spc="-1">
              <a:latin typeface="Arial" panose="020B0604020202020204"/>
            </a:endParaRPr>
          </a:p>
        </p:txBody>
      </p:sp>
      <p:sp>
        <p:nvSpPr>
          <p:cNvPr id="128" name="Прямоугольник 127"/>
          <p:cNvSpPr/>
          <p:nvPr/>
        </p:nvSpPr>
        <p:spPr>
          <a:xfrm>
            <a:off x="262350" y="1268580"/>
            <a:ext cx="691956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latin typeface="Arial" panose="020B0604020202020204"/>
              </a:rPr>
              <a:t>Нам дано множество Х временных рядов длины D_j таких, что:</a:t>
            </a:r>
            <a:endParaRPr lang="ru-RU" sz="1600" b="0" strike="noStrike" spc="-1">
              <a:latin typeface="Arial" panose="020B0604020202020204"/>
            </a:endParaRPr>
          </a:p>
        </p:txBody>
      </p:sp>
      <p:pic>
        <p:nvPicPr>
          <p:cNvPr id="129" name="Изображение 128"/>
          <p:cNvPicPr/>
          <p:nvPr/>
        </p:nvPicPr>
        <p:blipFill>
          <a:blip r:embed="rId3"/>
          <a:stretch>
            <a:fillRect/>
          </a:stretch>
        </p:blipFill>
        <p:spPr>
          <a:xfrm>
            <a:off x="889295" y="1704530"/>
            <a:ext cx="5409360" cy="465840"/>
          </a:xfrm>
          <a:prstGeom prst="rect">
            <a:avLst/>
          </a:prstGeom>
          <a:ln w="0">
            <a:noFill/>
          </a:ln>
        </p:spPr>
      </p:pic>
      <p:sp>
        <p:nvSpPr>
          <p:cNvPr id="130" name="Прямоугольник 129"/>
          <p:cNvSpPr/>
          <p:nvPr/>
        </p:nvSpPr>
        <p:spPr>
          <a:xfrm>
            <a:off x="295350" y="2410605"/>
            <a:ext cx="542448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latin typeface="Arial" panose="020B0604020202020204"/>
              </a:rPr>
              <a:t>И задан набор дискретных структур M таких, что:</a:t>
            </a:r>
            <a:endParaRPr lang="ru-RU" sz="1600" b="0" strike="noStrike" spc="-1">
              <a:latin typeface="Arial" panose="020B0604020202020204"/>
            </a:endParaRPr>
          </a:p>
        </p:txBody>
      </p:sp>
      <p:sp>
        <p:nvSpPr>
          <p:cNvPr id="131" name="Прямоугольник 130"/>
          <p:cNvSpPr/>
          <p:nvPr/>
        </p:nvSpPr>
        <p:spPr>
          <a:xfrm>
            <a:off x="736195" y="2912255"/>
            <a:ext cx="177588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latin typeface="Arial" panose="020B0604020202020204"/>
              </a:rPr>
              <a:t>L: X - &gt; LAMDA</a:t>
            </a:r>
            <a:r>
              <a:rPr lang="en-US" altLang="ru-RU" sz="1800" b="0" strike="noStrike" spc="-1">
                <a:latin typeface="Arial" panose="020B0604020202020204"/>
              </a:rPr>
              <a:t>   </a:t>
            </a:r>
            <a:endParaRPr lang="en-US" altLang="ru-RU" sz="1800" b="0" strike="noStrike" spc="-1">
              <a:latin typeface="Arial" panose="020B0604020202020204"/>
            </a:endParaRPr>
          </a:p>
        </p:txBody>
      </p:sp>
      <p:sp>
        <p:nvSpPr>
          <p:cNvPr id="132" name="Прямоугольник 131"/>
          <p:cNvSpPr/>
          <p:nvPr/>
        </p:nvSpPr>
        <p:spPr>
          <a:xfrm>
            <a:off x="751075" y="3369815"/>
            <a:ext cx="185220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latin typeface="Arial" panose="020B0604020202020204"/>
              </a:rPr>
              <a:t>L*: LAMDA - &gt;X</a:t>
            </a:r>
            <a:endParaRPr lang="ru-RU" sz="1800" b="0" strike="noStrike" spc="-1">
              <a:latin typeface="Arial" panose="020B0604020202020204"/>
            </a:endParaRPr>
          </a:p>
        </p:txBody>
      </p:sp>
      <p:sp>
        <p:nvSpPr>
          <p:cNvPr id="133" name="Прямоугольник 132"/>
          <p:cNvSpPr/>
          <p:nvPr/>
        </p:nvSpPr>
        <p:spPr>
          <a:xfrm>
            <a:off x="179785" y="3901665"/>
            <a:ext cx="6279480" cy="60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latin typeface="Arial" panose="020B0604020202020204"/>
              </a:rPr>
              <a:t>Первый отображает временной ряд в структуру, а второй</a:t>
            </a:r>
            <a:endParaRPr lang="ru-RU" sz="1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latin typeface="Arial" panose="020B0604020202020204"/>
              </a:rPr>
              <a:t>Генерирует ряд из структуры</a:t>
            </a:r>
            <a:endParaRPr lang="ru-RU" sz="18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63;p 6"/>
          <p:cNvPicPr/>
          <p:nvPr/>
        </p:nvPicPr>
        <p:blipFill>
          <a:blip r:embed="rId1"/>
          <a:stretch>
            <a:fillRect/>
          </a:stretch>
        </p:blipFill>
        <p:spPr>
          <a:xfrm>
            <a:off x="7022880" y="4513680"/>
            <a:ext cx="2010960" cy="570600"/>
          </a:xfrm>
          <a:prstGeom prst="rect">
            <a:avLst/>
          </a:prstGeom>
          <a:ln w="0">
            <a:noFill/>
          </a:ln>
        </p:spPr>
      </p:pic>
      <p:grpSp>
        <p:nvGrpSpPr>
          <p:cNvPr id="135" name="Группа 7"/>
          <p:cNvGrpSpPr/>
          <p:nvPr/>
        </p:nvGrpSpPr>
        <p:grpSpPr>
          <a:xfrm>
            <a:off x="0" y="1178280"/>
            <a:ext cx="7181640" cy="271800"/>
            <a:chOff x="0" y="1178280"/>
            <a:chExt cx="7181640" cy="271800"/>
          </a:xfrm>
        </p:grpSpPr>
        <p:sp>
          <p:nvSpPr>
            <p:cNvPr id="136" name="Google Shape;64;p 6"/>
            <p:cNvSpPr/>
            <p:nvPr/>
          </p:nvSpPr>
          <p:spPr>
            <a:xfrm>
              <a:off x="0" y="1315440"/>
              <a:ext cx="690768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137" name="Google Shape;65;p 6"/>
            <p:cNvSpPr/>
            <p:nvPr/>
          </p:nvSpPr>
          <p:spPr>
            <a:xfrm>
              <a:off x="6909840" y="1178280"/>
              <a:ext cx="271800" cy="271800"/>
            </a:xfrm>
            <a:prstGeom prst="ellipse">
              <a:avLst/>
            </a:pr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</p:grpSp>
      <p:pic>
        <p:nvPicPr>
          <p:cNvPr id="138" name="Google Shape;55;p 6"/>
          <p:cNvPicPr/>
          <p:nvPr/>
        </p:nvPicPr>
        <p:blipFill>
          <a:blip r:embed="rId2"/>
          <a:stretch>
            <a:fillRect/>
          </a:stretch>
        </p:blipFill>
        <p:spPr>
          <a:xfrm>
            <a:off x="7677000" y="343440"/>
            <a:ext cx="857880" cy="1106640"/>
          </a:xfrm>
          <a:prstGeom prst="rect">
            <a:avLst/>
          </a:prstGeom>
          <a:ln w="0">
            <a:noFill/>
          </a:ln>
        </p:spPr>
      </p:pic>
      <p:sp>
        <p:nvSpPr>
          <p:cNvPr id="139" name="TextBox 35"/>
          <p:cNvSpPr/>
          <p:nvPr/>
        </p:nvSpPr>
        <p:spPr>
          <a:xfrm>
            <a:off x="465840" y="612720"/>
            <a:ext cx="8210160" cy="59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40" name="TextBox 36"/>
          <p:cNvSpPr/>
          <p:nvPr/>
        </p:nvSpPr>
        <p:spPr>
          <a:xfrm>
            <a:off x="631080" y="2206800"/>
            <a:ext cx="679212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41" name="TextBox 37"/>
          <p:cNvSpPr/>
          <p:nvPr/>
        </p:nvSpPr>
        <p:spPr>
          <a:xfrm>
            <a:off x="465840" y="1906560"/>
            <a:ext cx="315360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42" name="TextBox 38"/>
          <p:cNvSpPr/>
          <p:nvPr/>
        </p:nvSpPr>
        <p:spPr>
          <a:xfrm>
            <a:off x="3446640" y="2997000"/>
            <a:ext cx="24336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43" name="TextBox 39"/>
          <p:cNvSpPr/>
          <p:nvPr/>
        </p:nvSpPr>
        <p:spPr>
          <a:xfrm>
            <a:off x="465840" y="2665800"/>
            <a:ext cx="583272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44" name="Прямоугольник 143"/>
          <p:cNvSpPr/>
          <p:nvPr/>
        </p:nvSpPr>
        <p:spPr>
          <a:xfrm>
            <a:off x="-8687880" y="1800000"/>
            <a:ext cx="180360" cy="1926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ru-RU" sz="2800" b="0" strike="noStrike" spc="-1"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ru-RU" sz="2800" b="0" strike="noStrike" spc="-1"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ru-RU" sz="2800" b="0" strike="noStrike" spc="-1"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ru-RU" sz="2800" b="0" strike="noStrike" spc="-1">
              <a:latin typeface="Arial" panose="020B0604020202020204"/>
            </a:endParaRPr>
          </a:p>
        </p:txBody>
      </p:sp>
      <p:sp>
        <p:nvSpPr>
          <p:cNvPr id="145" name="Прямоугольник 144"/>
          <p:cNvSpPr/>
          <p:nvPr/>
        </p:nvSpPr>
        <p:spPr>
          <a:xfrm>
            <a:off x="371335" y="285915"/>
            <a:ext cx="4840920" cy="622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Arial" panose="020B0604020202020204" pitchFamily="34" charset="0"/>
                <a:ea typeface="Roboto Bold"/>
                <a:cs typeface="Arial" panose="020B0604020202020204" pitchFamily="34" charset="0"/>
              </a:rPr>
              <a:t>Постановка задачи</a:t>
            </a:r>
            <a:endParaRPr lang="ru-RU" sz="36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Прямоугольник 145"/>
          <p:cNvSpPr/>
          <p:nvPr/>
        </p:nvSpPr>
        <p:spPr>
          <a:xfrm>
            <a:off x="132480" y="1640160"/>
            <a:ext cx="8951040" cy="136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latin typeface="Arial" panose="020B0604020202020204"/>
              </a:rPr>
              <a:t>Еще один рассматриваемый объект — это набор характеристик временных рядов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latin typeface="Arial" panose="020B0604020202020204"/>
              </a:rPr>
              <a:t>M(x), где x принадлежит множеству X. Для каждого хаотического врем. ряда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latin typeface="Arial" panose="020B0604020202020204"/>
              </a:rPr>
              <a:t>набор может включать в себе экспоненту Ляпунова, обобщенной энтропии и 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latin typeface="Arial" panose="020B0604020202020204"/>
              </a:rPr>
              <a:t>других метрик. К примеру, если алгоритм способен на предсказания, мы можем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latin typeface="Arial" panose="020B0604020202020204"/>
              </a:rPr>
              <a:t>даже взять усредненные ошибки (упомянал в самом начале).</a:t>
            </a:r>
            <a:endParaRPr lang="ru-RU" sz="1600" b="0" strike="noStrike" spc="-1">
              <a:latin typeface="Arial" panose="020B0604020202020204"/>
            </a:endParaRPr>
          </a:p>
        </p:txBody>
      </p:sp>
      <p:sp>
        <p:nvSpPr>
          <p:cNvPr id="147" name="Прямоугольник 146"/>
          <p:cNvSpPr/>
          <p:nvPr/>
        </p:nvSpPr>
        <p:spPr>
          <a:xfrm>
            <a:off x="2486580" y="3010000"/>
            <a:ext cx="1471320" cy="508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latin typeface="Arial" panose="020B0604020202020204"/>
              </a:rPr>
              <a:t>Наша цель?</a:t>
            </a:r>
            <a:endParaRPr lang="ru-RU" sz="1800" b="0" strike="noStrike" spc="-1">
              <a:latin typeface="Arial" panose="020B0604020202020204"/>
            </a:endParaRPr>
          </a:p>
        </p:txBody>
      </p:sp>
      <p:pic>
        <p:nvPicPr>
          <p:cNvPr id="148" name="Изображение 147"/>
          <p:cNvPicPr/>
          <p:nvPr/>
        </p:nvPicPr>
        <p:blipFill>
          <a:blip r:embed="rId3"/>
          <a:stretch>
            <a:fillRect/>
          </a:stretch>
        </p:blipFill>
        <p:spPr>
          <a:xfrm>
            <a:off x="751975" y="3334275"/>
            <a:ext cx="5765400" cy="15796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63;p 7"/>
          <p:cNvPicPr/>
          <p:nvPr/>
        </p:nvPicPr>
        <p:blipFill>
          <a:blip r:embed="rId1"/>
          <a:stretch>
            <a:fillRect/>
          </a:stretch>
        </p:blipFill>
        <p:spPr>
          <a:xfrm>
            <a:off x="7022880" y="4513680"/>
            <a:ext cx="2010960" cy="570600"/>
          </a:xfrm>
          <a:prstGeom prst="rect">
            <a:avLst/>
          </a:prstGeom>
          <a:ln w="0">
            <a:noFill/>
          </a:ln>
        </p:spPr>
      </p:pic>
      <p:grpSp>
        <p:nvGrpSpPr>
          <p:cNvPr id="150" name="Группа 8"/>
          <p:cNvGrpSpPr/>
          <p:nvPr/>
        </p:nvGrpSpPr>
        <p:grpSpPr>
          <a:xfrm>
            <a:off x="0" y="1178280"/>
            <a:ext cx="7181640" cy="271800"/>
            <a:chOff x="0" y="1178280"/>
            <a:chExt cx="7181640" cy="271800"/>
          </a:xfrm>
        </p:grpSpPr>
        <p:sp>
          <p:nvSpPr>
            <p:cNvPr id="151" name="Google Shape;64;p 7"/>
            <p:cNvSpPr/>
            <p:nvPr/>
          </p:nvSpPr>
          <p:spPr>
            <a:xfrm>
              <a:off x="0" y="1315440"/>
              <a:ext cx="690768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152" name="Google Shape;65;p 7"/>
            <p:cNvSpPr/>
            <p:nvPr/>
          </p:nvSpPr>
          <p:spPr>
            <a:xfrm>
              <a:off x="6909840" y="1178280"/>
              <a:ext cx="271800" cy="271800"/>
            </a:xfrm>
            <a:prstGeom prst="ellipse">
              <a:avLst/>
            </a:pr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</p:grpSp>
      <p:pic>
        <p:nvPicPr>
          <p:cNvPr id="153" name="Google Shape;55;p 7"/>
          <p:cNvPicPr/>
          <p:nvPr/>
        </p:nvPicPr>
        <p:blipFill>
          <a:blip r:embed="rId2"/>
          <a:stretch>
            <a:fillRect/>
          </a:stretch>
        </p:blipFill>
        <p:spPr>
          <a:xfrm>
            <a:off x="7677000" y="343440"/>
            <a:ext cx="857880" cy="1106640"/>
          </a:xfrm>
          <a:prstGeom prst="rect">
            <a:avLst/>
          </a:prstGeom>
          <a:ln w="0">
            <a:noFill/>
          </a:ln>
        </p:spPr>
      </p:pic>
      <p:sp>
        <p:nvSpPr>
          <p:cNvPr id="154" name="TextBox 40"/>
          <p:cNvSpPr/>
          <p:nvPr/>
        </p:nvSpPr>
        <p:spPr>
          <a:xfrm>
            <a:off x="465840" y="612720"/>
            <a:ext cx="8210160" cy="59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55" name="TextBox 41"/>
          <p:cNvSpPr/>
          <p:nvPr/>
        </p:nvSpPr>
        <p:spPr>
          <a:xfrm>
            <a:off x="631080" y="2206800"/>
            <a:ext cx="679212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56" name="TextBox 42"/>
          <p:cNvSpPr/>
          <p:nvPr/>
        </p:nvSpPr>
        <p:spPr>
          <a:xfrm>
            <a:off x="465840" y="1906560"/>
            <a:ext cx="315360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57" name="TextBox 43"/>
          <p:cNvSpPr/>
          <p:nvPr/>
        </p:nvSpPr>
        <p:spPr>
          <a:xfrm>
            <a:off x="3446640" y="2997000"/>
            <a:ext cx="24336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58" name="TextBox 44"/>
          <p:cNvSpPr/>
          <p:nvPr/>
        </p:nvSpPr>
        <p:spPr>
          <a:xfrm>
            <a:off x="465840" y="2665800"/>
            <a:ext cx="583272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59" name="Прямоугольник 158"/>
          <p:cNvSpPr/>
          <p:nvPr/>
        </p:nvSpPr>
        <p:spPr>
          <a:xfrm>
            <a:off x="-8687880" y="1800000"/>
            <a:ext cx="180360" cy="1926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ru-RU" sz="2800" b="0" strike="noStrike" spc="-1"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ru-RU" sz="2800" b="0" strike="noStrike" spc="-1"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ru-RU" sz="2800" b="0" strike="noStrike" spc="-1"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ru-RU" sz="2800" b="0" strike="noStrike" spc="-1">
              <a:latin typeface="Arial" panose="020B0604020202020204"/>
            </a:endParaRPr>
          </a:p>
        </p:txBody>
      </p:sp>
      <p:sp>
        <p:nvSpPr>
          <p:cNvPr id="160" name="Прямоугольник 159"/>
          <p:cNvSpPr/>
          <p:nvPr/>
        </p:nvSpPr>
        <p:spPr>
          <a:xfrm>
            <a:off x="720000" y="417960"/>
            <a:ext cx="4840920" cy="622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Arial" panose="020B0604020202020204" pitchFamily="34" charset="0"/>
                <a:ea typeface="Roboto Bold"/>
                <a:cs typeface="Arial" panose="020B0604020202020204" pitchFamily="34" charset="0"/>
              </a:rPr>
              <a:t>Постановка задачи</a:t>
            </a:r>
            <a:endParaRPr lang="ru-RU" sz="36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" name="Прямоугольник 160"/>
          <p:cNvSpPr/>
          <p:nvPr/>
        </p:nvSpPr>
        <p:spPr>
          <a:xfrm>
            <a:off x="289080" y="1730160"/>
            <a:ext cx="8368920" cy="1113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latin typeface="Arial" panose="020B0604020202020204"/>
              </a:rPr>
              <a:t>Выражение в скобках символизирует то, что компоненты, используемые для</a:t>
            </a:r>
            <a:r>
              <a:rPr lang="en-US" altLang="ru-RU" sz="1800" b="0" strike="noStrike" spc="-1">
                <a:latin typeface="Arial" panose="020B0604020202020204"/>
              </a:rPr>
              <a:t> </a:t>
            </a:r>
            <a:r>
              <a:rPr lang="ru-RU" sz="1800" b="0" strike="noStrike" spc="-1">
                <a:latin typeface="Arial" panose="020B0604020202020204"/>
              </a:rPr>
              <a:t>для вычисления нормы это относительная разница между компонентами</a:t>
            </a:r>
            <a:endParaRPr lang="ru-RU" sz="1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latin typeface="Arial" panose="020B0604020202020204"/>
              </a:rPr>
              <a:t>Вектора M (характеристики временного ряда), вычисленные для начального</a:t>
            </a:r>
            <a:endParaRPr lang="ru-RU" sz="1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latin typeface="Arial" panose="020B0604020202020204"/>
              </a:rPr>
              <a:t>и сгенериванного временного ряда.</a:t>
            </a:r>
            <a:endParaRPr lang="ru-RU" sz="18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63;p 8"/>
          <p:cNvPicPr/>
          <p:nvPr/>
        </p:nvPicPr>
        <p:blipFill>
          <a:blip r:embed="rId1"/>
          <a:stretch>
            <a:fillRect/>
          </a:stretch>
        </p:blipFill>
        <p:spPr>
          <a:xfrm>
            <a:off x="7022880" y="4513680"/>
            <a:ext cx="2010960" cy="570600"/>
          </a:xfrm>
          <a:prstGeom prst="rect">
            <a:avLst/>
          </a:prstGeom>
          <a:ln w="0">
            <a:noFill/>
          </a:ln>
        </p:spPr>
      </p:pic>
      <p:grpSp>
        <p:nvGrpSpPr>
          <p:cNvPr id="163" name="Группа 9"/>
          <p:cNvGrpSpPr/>
          <p:nvPr/>
        </p:nvGrpSpPr>
        <p:grpSpPr>
          <a:xfrm>
            <a:off x="0" y="1178280"/>
            <a:ext cx="7181640" cy="271800"/>
            <a:chOff x="0" y="1178280"/>
            <a:chExt cx="7181640" cy="271800"/>
          </a:xfrm>
        </p:grpSpPr>
        <p:sp>
          <p:nvSpPr>
            <p:cNvPr id="164" name="Google Shape;64;p 8"/>
            <p:cNvSpPr/>
            <p:nvPr/>
          </p:nvSpPr>
          <p:spPr>
            <a:xfrm>
              <a:off x="0" y="1315440"/>
              <a:ext cx="690768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165" name="Google Shape;65;p 8"/>
            <p:cNvSpPr/>
            <p:nvPr/>
          </p:nvSpPr>
          <p:spPr>
            <a:xfrm>
              <a:off x="6909840" y="1178280"/>
              <a:ext cx="271800" cy="271800"/>
            </a:xfrm>
            <a:prstGeom prst="ellipse">
              <a:avLst/>
            </a:prstGeom>
            <a:noFill/>
            <a:ln w="76200">
              <a:solidFill>
                <a:srgbClr val="F9C00B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</p:grpSp>
      <p:pic>
        <p:nvPicPr>
          <p:cNvPr id="166" name="Google Shape;55;p 8"/>
          <p:cNvPicPr/>
          <p:nvPr/>
        </p:nvPicPr>
        <p:blipFill>
          <a:blip r:embed="rId2"/>
          <a:stretch>
            <a:fillRect/>
          </a:stretch>
        </p:blipFill>
        <p:spPr>
          <a:xfrm>
            <a:off x="7677000" y="343440"/>
            <a:ext cx="857880" cy="1106640"/>
          </a:xfrm>
          <a:prstGeom prst="rect">
            <a:avLst/>
          </a:prstGeom>
          <a:ln w="0">
            <a:noFill/>
          </a:ln>
        </p:spPr>
      </p:pic>
      <p:sp>
        <p:nvSpPr>
          <p:cNvPr id="167" name="TextBox 45"/>
          <p:cNvSpPr/>
          <p:nvPr/>
        </p:nvSpPr>
        <p:spPr>
          <a:xfrm>
            <a:off x="465840" y="612720"/>
            <a:ext cx="8210160" cy="59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68" name="TextBox 46"/>
          <p:cNvSpPr/>
          <p:nvPr/>
        </p:nvSpPr>
        <p:spPr>
          <a:xfrm>
            <a:off x="631080" y="2206800"/>
            <a:ext cx="679212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69" name="TextBox 47"/>
          <p:cNvSpPr/>
          <p:nvPr/>
        </p:nvSpPr>
        <p:spPr>
          <a:xfrm>
            <a:off x="465840" y="1906560"/>
            <a:ext cx="315360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70" name="TextBox 48"/>
          <p:cNvSpPr/>
          <p:nvPr/>
        </p:nvSpPr>
        <p:spPr>
          <a:xfrm>
            <a:off x="3446640" y="2997000"/>
            <a:ext cx="24336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71" name="TextBox 49"/>
          <p:cNvSpPr/>
          <p:nvPr/>
        </p:nvSpPr>
        <p:spPr>
          <a:xfrm>
            <a:off x="465840" y="2665800"/>
            <a:ext cx="5832720" cy="31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72" name="Прямоугольник 171"/>
          <p:cNvSpPr/>
          <p:nvPr/>
        </p:nvSpPr>
        <p:spPr>
          <a:xfrm>
            <a:off x="-8687880" y="1800000"/>
            <a:ext cx="180360" cy="1926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ru-RU" sz="2800" b="0" strike="noStrike" spc="-1"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ru-RU" sz="2800" b="0" strike="noStrike" spc="-1"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ru-RU" sz="2800" b="0" strike="noStrike" spc="-1"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ru-RU" sz="2800" b="0" strike="noStrike" spc="-1">
              <a:latin typeface="Arial" panose="020B0604020202020204"/>
            </a:endParaRPr>
          </a:p>
        </p:txBody>
      </p:sp>
      <p:sp>
        <p:nvSpPr>
          <p:cNvPr id="173" name="Прямоугольник 172"/>
          <p:cNvSpPr/>
          <p:nvPr/>
        </p:nvSpPr>
        <p:spPr>
          <a:xfrm>
            <a:off x="466000" y="343665"/>
            <a:ext cx="4840920" cy="622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Arial" panose="020B0604020202020204" pitchFamily="34" charset="0"/>
                <a:ea typeface="Roboto Bold"/>
                <a:cs typeface="Arial" panose="020B0604020202020204" pitchFamily="34" charset="0"/>
              </a:rPr>
              <a:t>Постановка задачи</a:t>
            </a:r>
            <a:endParaRPr lang="ru-RU" sz="36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Прямоугольник 173"/>
          <p:cNvSpPr/>
          <p:nvPr/>
        </p:nvSpPr>
        <p:spPr>
          <a:xfrm>
            <a:off x="289080" y="1730160"/>
            <a:ext cx="8595720" cy="2393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latin typeface="Arial" panose="020B0604020202020204"/>
              </a:rPr>
              <a:t>Это значит, что мы пытаемся разработать такую структуру, чтобы исходные и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latin typeface="Arial" panose="020B0604020202020204"/>
              </a:rPr>
              <a:t>повторно сгенерированные ряда были как можно ближе с точки зрения набора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latin typeface="Arial" panose="020B0604020202020204"/>
              </a:rPr>
              <a:t>характеристик M(x). Сравнивая характеристики исходного временного ряда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latin typeface="Arial" panose="020B0604020202020204"/>
              </a:rPr>
              <a:t>с характектеристиками вновь сгенерированного временого ряда, следует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latin typeface="Arial" panose="020B0604020202020204"/>
              </a:rPr>
              <a:t>использовать участки исходного временного ряда, что не использовались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latin typeface="Arial" panose="020B0604020202020204"/>
              </a:rPr>
              <a:t>для заполнения структуры, чтобы проверить его способность к обобщению,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latin typeface="Arial" panose="020B0604020202020204"/>
              </a:rPr>
              <a:t>а не только хранению информации.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latin typeface="Arial" panose="020B0604020202020204"/>
              </a:rPr>
              <a:t>Можно искать лямбду, рассчитанный либо для отдельных рядов, либо для</a:t>
            </a:r>
            <a:endParaRPr lang="ru-RU" sz="16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strike="noStrike" spc="-1">
                <a:latin typeface="Arial" panose="020B0604020202020204"/>
              </a:rPr>
              <a:t>набора рядов в среднем.</a:t>
            </a:r>
            <a:endParaRPr lang="ru-RU" sz="16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3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022760" y="4513699"/>
            <a:ext cx="2013299" cy="5727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Группа 5"/>
          <p:cNvGrpSpPr/>
          <p:nvPr/>
        </p:nvGrpSpPr>
        <p:grpSpPr>
          <a:xfrm>
            <a:off x="0" y="1178311"/>
            <a:ext cx="7183800" cy="273900"/>
            <a:chOff x="-24090" y="557049"/>
            <a:chExt cx="7183800" cy="273900"/>
          </a:xfrm>
        </p:grpSpPr>
        <p:cxnSp>
          <p:nvCxnSpPr>
            <p:cNvPr id="7" name="Google Shape;64;p14"/>
            <p:cNvCxnSpPr>
              <a:endCxn id="8" idx="2"/>
            </p:cNvCxnSpPr>
            <p:nvPr/>
          </p:nvCxnSpPr>
          <p:spPr>
            <a:xfrm>
              <a:off x="-24090" y="693999"/>
              <a:ext cx="6909900" cy="0"/>
            </a:xfrm>
            <a:prstGeom prst="straightConnector1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5;p14"/>
            <p:cNvSpPr/>
            <p:nvPr/>
          </p:nvSpPr>
          <p:spPr>
            <a:xfrm>
              <a:off x="6885810" y="557049"/>
              <a:ext cx="273900" cy="273900"/>
            </a:xfrm>
            <a:prstGeom prst="ellipse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pic>
        <p:nvPicPr>
          <p:cNvPr id="9" name="Google Shape;55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77015" y="343409"/>
            <a:ext cx="860137" cy="1108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465812" y="612745"/>
            <a:ext cx="8212376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ru-RU" sz="4000" spc="-100" dirty="0">
                <a:solidFill>
                  <a:schemeClr val="tx1"/>
                </a:solidFill>
                <a:latin typeface="+mj-lt"/>
                <a:ea typeface="Roboto Bold" panose="02000000000000000000" pitchFamily="2" charset="0"/>
                <a:cs typeface="+mj-lt"/>
              </a:rPr>
              <a:t>Шаблон</a:t>
            </a:r>
            <a:r>
              <a:rPr lang="en-US" altLang="ru-RU" sz="4000" spc="-100" dirty="0">
                <a:solidFill>
                  <a:schemeClr val="tx1"/>
                </a:solidFill>
                <a:latin typeface="+mj-lt"/>
                <a:ea typeface="Roboto Bold" panose="02000000000000000000" pitchFamily="2" charset="0"/>
                <a:cs typeface="+mj-lt"/>
              </a:rPr>
              <a:t>(</a:t>
            </a:r>
            <a:r>
              <a:rPr lang="ru-RU" sz="4000" spc="-100" dirty="0">
                <a:solidFill>
                  <a:schemeClr val="tx1"/>
                </a:solidFill>
                <a:latin typeface="+mj-lt"/>
                <a:ea typeface="Roboto Bold" panose="02000000000000000000" pitchFamily="2" charset="0"/>
                <a:cs typeface="+mj-lt"/>
              </a:rPr>
              <a:t>схема наблюдения)</a:t>
            </a:r>
            <a:endParaRPr lang="ru-RU" sz="4000" spc="-100" dirty="0">
              <a:solidFill>
                <a:schemeClr val="tx1"/>
              </a:solidFill>
              <a:latin typeface="+mj-lt"/>
              <a:ea typeface="Roboto Bold" panose="02000000000000000000" pitchFamily="2" charset="0"/>
              <a:cs typeface="+mj-lt"/>
            </a:endParaRPr>
          </a:p>
          <a:p>
            <a:pPr>
              <a:lnSpc>
                <a:spcPts val="4000"/>
              </a:lnSpc>
            </a:pPr>
            <a:endParaRPr lang="ru-RU" sz="4000" spc="-100" dirty="0">
              <a:solidFill>
                <a:schemeClr val="tx1"/>
              </a:solidFill>
              <a:latin typeface="+mj-lt"/>
              <a:ea typeface="Roboto Bold" panose="02000000000000000000" pitchFamily="2" charset="0"/>
              <a:cs typeface="+mj-lt"/>
            </a:endParaRPr>
          </a:p>
          <a:p>
            <a:pPr>
              <a:lnSpc>
                <a:spcPts val="4000"/>
              </a:lnSpc>
            </a:pPr>
            <a:endParaRPr lang="ru-RU" sz="4000" spc="-100" dirty="0">
              <a:solidFill>
                <a:schemeClr val="tx1"/>
              </a:solidFill>
              <a:latin typeface="+mj-lt"/>
              <a:ea typeface="Roboto Bold" panose="02000000000000000000" pitchFamily="2" charset="0"/>
              <a:cs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466090" y="1683385"/>
                <a:ext cx="7363460" cy="2901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dirty="0"/>
                  <a:t>Прежде</a:t>
                </a:r>
                <a:r>
                  <a:rPr lang="en-US" altLang="ru-RU" dirty="0"/>
                  <a:t>, </a:t>
                </a:r>
                <a:r>
                  <a:rPr lang="ru-RU" dirty="0"/>
                  <a:t>чем дать формальное определение реляционного тензора, введем понятие шаблона(схемы наблюдения).</a:t>
                </a:r>
                <a:r>
                  <a:rPr lang="en-US" altLang="ru-RU" dirty="0"/>
                  <a:t> </a:t>
                </a:r>
                <a:r>
                  <a:rPr lang="ru-RU" dirty="0"/>
                  <a:t>Под шаблоном будем понимать заданную последовательность расстояний между позициями наблюдений временного ряда, такую что эти (непоследовательно идущие) наблюдения займут последовательно идущие позиции в сгенерированном векторе обучающей выборки. Если мы делаем S наблюдений, то шаблоном будет </a:t>
                </a:r>
                <a:r>
                  <a:rPr lang="ru-RU" dirty="0">
                    <a:sym typeface="+mn-ea"/>
                  </a:rPr>
                  <a:t> </a:t>
                </a:r>
                <a:r>
                  <a:rPr lang="en-US" dirty="0">
                    <a:sym typeface="+mn-ea"/>
                  </a:rPr>
                  <a:t>S-1-</a:t>
                </a:r>
                <a:r>
                  <a:rPr lang="ru-RU" dirty="0">
                    <a:sym typeface="+mn-ea"/>
                  </a:rPr>
                  <a:t>мерный вектор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), 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 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 </m:t>
                    </m:r>
                    <m:r>
                      <a:rPr lang="en-US" i="1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∈{</m:t>
                    </m:r>
                    <m:r>
                      <a:rPr lang="en-US" i="1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  <m:r>
                      <a:rPr lang="en-US" i="1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 ..., 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}, 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 = 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...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ru-RU" dirty="0"/>
                  <a:t>, элементы которого варьируются в пределах от 1 до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altLang="ru-RU" dirty="0"/>
                  <a:t> </a:t>
                </a:r>
                <a:r>
                  <a:rPr lang="ru-RU" dirty="0"/>
                  <a:t>(максимальное расстояние между позициями наблюдений</a:t>
                </a:r>
                <a:r>
                  <a:rPr lang="en-US" altLang="ru-RU" dirty="0"/>
                  <a:t> </a:t>
                </a:r>
                <a:r>
                  <a:rPr lang="ru-RU" altLang="ru-RU" dirty="0"/>
                  <a:t>в сгенерированном векторе</a:t>
                </a:r>
                <a:r>
                  <a:rPr lang="ru-RU" dirty="0"/>
                  <a:t>).</a:t>
                </a:r>
                <a:endParaRPr lang="ru-RU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ℵ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– обозначение множества всех возможных шаблонов длины S.</a:t>
                </a:r>
                <a:endParaRPr lang="ru-RU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ru-RU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ru-RU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ru-RU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90" y="1683385"/>
                <a:ext cx="7363460" cy="29013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3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022760" y="4513699"/>
            <a:ext cx="2013299" cy="5727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Группа 5"/>
          <p:cNvGrpSpPr/>
          <p:nvPr/>
        </p:nvGrpSpPr>
        <p:grpSpPr>
          <a:xfrm>
            <a:off x="0" y="1178311"/>
            <a:ext cx="7183800" cy="273900"/>
            <a:chOff x="-24090" y="557049"/>
            <a:chExt cx="7183800" cy="273900"/>
          </a:xfrm>
        </p:grpSpPr>
        <p:cxnSp>
          <p:nvCxnSpPr>
            <p:cNvPr id="7" name="Google Shape;64;p14"/>
            <p:cNvCxnSpPr>
              <a:endCxn id="8" idx="2"/>
            </p:cNvCxnSpPr>
            <p:nvPr/>
          </p:nvCxnSpPr>
          <p:spPr>
            <a:xfrm>
              <a:off x="-24090" y="693999"/>
              <a:ext cx="6909900" cy="0"/>
            </a:xfrm>
            <a:prstGeom prst="straightConnector1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5;p14"/>
            <p:cNvSpPr/>
            <p:nvPr/>
          </p:nvSpPr>
          <p:spPr>
            <a:xfrm>
              <a:off x="6885810" y="557049"/>
              <a:ext cx="273900" cy="273900"/>
            </a:xfrm>
            <a:prstGeom prst="ellipse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pic>
        <p:nvPicPr>
          <p:cNvPr id="9" name="Google Shape;55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77015" y="343409"/>
            <a:ext cx="860137" cy="1108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465812" y="612745"/>
            <a:ext cx="8212376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ru-RU" sz="4000" spc="-100" dirty="0">
                <a:solidFill>
                  <a:schemeClr val="tx1"/>
                </a:solidFill>
                <a:latin typeface="+mj-lt"/>
                <a:ea typeface="Roboto Bold" panose="02000000000000000000" pitchFamily="2" charset="0"/>
                <a:cs typeface="+mj-lt"/>
              </a:rPr>
              <a:t>Т</a:t>
            </a:r>
            <a:r>
              <a:rPr sz="4000" spc="-100" dirty="0">
                <a:solidFill>
                  <a:schemeClr val="tx1"/>
                </a:solidFill>
                <a:latin typeface="+mj-lt"/>
                <a:ea typeface="Roboto Bold" panose="02000000000000000000" pitchFamily="2" charset="0"/>
                <a:cs typeface="+mj-lt"/>
              </a:rPr>
              <a:t>ензор</a:t>
            </a:r>
            <a:endParaRPr sz="4000" spc="-100" dirty="0">
              <a:solidFill>
                <a:schemeClr val="tx1"/>
              </a:solidFill>
              <a:latin typeface="+mj-lt"/>
              <a:ea typeface="Roboto Bold" panose="02000000000000000000" pitchFamily="2" charset="0"/>
              <a:cs typeface="+mj-lt"/>
            </a:endParaRPr>
          </a:p>
          <a:p>
            <a:pPr>
              <a:lnSpc>
                <a:spcPts val="4000"/>
              </a:lnSpc>
            </a:pPr>
            <a:endParaRPr sz="4000" spc="-100" dirty="0">
              <a:solidFill>
                <a:schemeClr val="tx1"/>
              </a:solidFill>
              <a:latin typeface="+mj-lt"/>
              <a:ea typeface="Roboto Bold" panose="02000000000000000000" pitchFamily="2" charset="0"/>
              <a:cs typeface="+mj-lt"/>
            </a:endParaRPr>
          </a:p>
          <a:p>
            <a:pPr>
              <a:lnSpc>
                <a:spcPts val="4000"/>
              </a:lnSpc>
            </a:pPr>
            <a:endParaRPr sz="4000" spc="-100" dirty="0">
              <a:solidFill>
                <a:schemeClr val="tx1"/>
              </a:solidFill>
              <a:latin typeface="+mj-lt"/>
              <a:ea typeface="Roboto Bold" panose="02000000000000000000" pitchFamily="2" charset="0"/>
              <a:cs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466090" y="1683385"/>
                <a:ext cx="7363460" cy="3594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l">
                  <a:buNone/>
                </a:pPr>
                <a:r>
                  <a:rPr lang="ru-RU" dirty="0">
                    <a:sym typeface="+mn-ea"/>
                  </a:rPr>
                  <a:t>Чтобы определить реляционный тензор, мы предполагаем, что временной ряд нормализован, а его наблюдения принадлежат интервалу [- 1,1]. Интервал делится на равные подинтервалы; все 𝑁наблюдени1 временного ряда являются </a:t>
                </a:r>
                <a:r>
                  <a:rPr lang="en-US" dirty="0">
                    <a:sym typeface="+mn-ea"/>
                  </a:rPr>
                  <a:t>K</a:t>
                </a:r>
                <a:r>
                  <a:rPr lang="ru-RU" dirty="0">
                    <a:sym typeface="+mn-ea"/>
                  </a:rPr>
                  <a:t>-мерными.</a:t>
                </a:r>
                <a:endParaRPr lang="ru-RU" dirty="0">
                  <a:sym typeface="+mn-ea"/>
                </a:endParaRPr>
              </a:p>
              <a:p>
                <a:pPr marL="0" indent="0" algn="l">
                  <a:buNone/>
                </a:pPr>
                <a:endParaRPr lang="ru-RU" dirty="0">
                  <a:sym typeface="+mn-ea"/>
                </a:endParaRPr>
              </a:p>
              <a:p>
                <a:pPr marL="0" indent="0" algn="l">
                  <a:buNone/>
                </a:pPr>
                <a:r>
                  <a:rPr lang="ru-RU" b="1" dirty="0">
                    <a:sym typeface="+mn-ea"/>
                  </a:rPr>
                  <a:t>Введем о</a:t>
                </a:r>
                <a:r>
                  <a:rPr lang="ru-RU" b="1" dirty="0">
                    <a:sym typeface="+mn-ea"/>
                  </a:rPr>
                  <a:t>пределение</a:t>
                </a:r>
                <a:r>
                  <a:rPr lang="en-US" b="1" dirty="0">
                    <a:sym typeface="+mn-ea"/>
                  </a:rPr>
                  <a:t>:</a:t>
                </a:r>
                <a:r>
                  <a:rPr lang="ru-RU" b="1" dirty="0">
                    <a:sym typeface="+mn-ea"/>
                  </a:rPr>
                  <a:t> </a:t>
                </a:r>
                <a:endParaRPr lang="ru-RU" dirty="0"/>
              </a:p>
              <a:p>
                <a:pPr marL="0" indent="0" algn="l">
                  <a:buNone/>
                </a:pPr>
                <a:r>
                  <a:rPr lang="ru-RU" dirty="0">
                    <a:sym typeface="+mn-ea"/>
                  </a:rPr>
                  <a:t>Тензор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∈Ʌ</m:t>
                    </m:r>
                  </m:oMath>
                </a14:m>
                <a:r>
                  <a:rPr lang="en-US" dirty="0">
                    <a:sym typeface="+mn-ea"/>
                  </a:rPr>
                  <a:t> </a:t>
                </a:r>
                <a:r>
                  <a:rPr lang="ru-RU" dirty="0">
                    <a:sym typeface="+mn-ea"/>
                  </a:rPr>
                  <a:t>соответствует множеству всех шаблонов длины </a:t>
                </a:r>
                <a:r>
                  <a:rPr lang="en-US" dirty="0">
                    <a:sym typeface="+mn-ea"/>
                  </a:rPr>
                  <a:t>S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ℵ(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sym typeface="+mn-ea"/>
                  </a:rPr>
                  <a:t> и </a:t>
                </a:r>
                <a:r>
                  <a:rPr lang="en-US" dirty="0">
                    <a:sym typeface="+mn-ea"/>
                  </a:rPr>
                  <a:t>K</a:t>
                </a:r>
                <a:r>
                  <a:rPr lang="ru-RU" dirty="0">
                    <a:sym typeface="+mn-ea"/>
                  </a:rPr>
                  <a:t>-мерным наблюдениям, если его мультииндекс является объединением </a:t>
                </a:r>
                <a:r>
                  <a:rPr lang="en-US" dirty="0">
                    <a:sym typeface="+mn-ea"/>
                  </a:rPr>
                  <a:t>S K-</a:t>
                </a:r>
                <a:r>
                  <a:rPr lang="ru-RU" dirty="0">
                    <a:sym typeface="+mn-ea"/>
                  </a:rPr>
                  <a:t>мерных векторов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ym typeface="+mn-ea"/>
                  </a:rPr>
                  <a:t> </a:t>
                </a:r>
                <a:r>
                  <a:rPr lang="ru-RU" dirty="0">
                    <a:sym typeface="+mn-ea"/>
                  </a:rPr>
                  <a:t>и </a:t>
                </a:r>
                <a:r>
                  <a:rPr lang="en-US" dirty="0">
                    <a:sym typeface="+mn-ea"/>
                  </a:rPr>
                  <a:t>S</a:t>
                </a:r>
                <a:r>
                  <a:rPr lang="ru-RU" altLang="en-US" dirty="0">
                    <a:sym typeface="+mn-ea"/>
                  </a:rPr>
                  <a:t>-</a:t>
                </a:r>
                <a:r>
                  <a:rPr lang="en-US" dirty="0">
                    <a:sym typeface="+mn-ea"/>
                  </a:rPr>
                  <a:t>1</a:t>
                </a:r>
                <a:r>
                  <a:rPr lang="ru-RU" altLang="en-US" dirty="0">
                    <a:sym typeface="+mn-ea"/>
                  </a:rPr>
                  <a:t>-</a:t>
                </a:r>
                <a:r>
                  <a:rPr lang="ru-RU" dirty="0">
                    <a:sym typeface="+mn-ea"/>
                  </a:rPr>
                  <a:t>мерного вектора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∈ℵ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>
                    <a:sym typeface="+mn-ea"/>
                  </a:rPr>
                  <a:t>, что</a:t>
                </a:r>
                <a:r>
                  <a:rPr lang="en-US" dirty="0">
                    <a:sym typeface="+mn-ea"/>
                  </a:rPr>
                  <a:t>:</a:t>
                </a:r>
                <a:endParaRPr lang="en-US" dirty="0">
                  <a:sym typeface="+mn-ea"/>
                </a:endParaRPr>
              </a:p>
              <a:p>
                <a:pPr marL="0" indent="0" algn="l">
                  <a:buNone/>
                </a:pPr>
                <a:endParaRPr lang="ru-RU" dirty="0"/>
              </a:p>
              <a:p>
                <a:pPr marL="0" indent="0" algn="l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𝑈𝑃</m:t>
                        </m:r>
                      </m:e>
                    </m:nary>
                  </m:oMath>
                </a14:m>
                <a:r>
                  <a:rPr lang="en-US" dirty="0">
                    <a:sym typeface="+mn-ea"/>
                  </a:rPr>
                  <a:t>, </a:t>
                </a:r>
                <a:r>
                  <a:rPr lang="ru-RU" dirty="0">
                    <a:sym typeface="+mn-ea"/>
                  </a:rPr>
                  <a:t>где индексы</a:t>
                </a:r>
                <a:r>
                  <a:rPr lang="en-US" altLang="ru-RU" dirty="0">
                    <a:sym typeface="+mn-ea"/>
                  </a:rPr>
                  <a:t> </a:t>
                </a:r>
                <a:r>
                  <a:rPr lang="ru-RU" altLang="en-US" dirty="0">
                    <a:sym typeface="+mn-ea"/>
                  </a:rPr>
                  <a:t>принимают значения</a:t>
                </a:r>
                <a:r>
                  <a:rPr lang="ru-RU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dirty="0">
                    <a:sym typeface="+mn-ea"/>
                  </a:rPr>
                  <a:t> </a:t>
                </a:r>
                <a:r>
                  <a:rPr lang="ru-RU" dirty="0">
                    <a:sym typeface="+mn-ea"/>
                  </a:rPr>
                  <a:t>при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>
                  <a:sym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ru-RU" dirty="0">
                  <a:sym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ru-RU" dirty="0">
                  <a:sym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ru-RU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ru-RU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90" y="1683385"/>
                <a:ext cx="7363460" cy="35941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3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022760" y="4513699"/>
            <a:ext cx="2013299" cy="5727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Группа 5"/>
          <p:cNvGrpSpPr/>
          <p:nvPr/>
        </p:nvGrpSpPr>
        <p:grpSpPr>
          <a:xfrm>
            <a:off x="0" y="1178311"/>
            <a:ext cx="7183800" cy="273900"/>
            <a:chOff x="-24090" y="557049"/>
            <a:chExt cx="7183800" cy="273900"/>
          </a:xfrm>
        </p:grpSpPr>
        <p:cxnSp>
          <p:nvCxnSpPr>
            <p:cNvPr id="7" name="Google Shape;64;p14"/>
            <p:cNvCxnSpPr>
              <a:endCxn id="8" idx="2"/>
            </p:cNvCxnSpPr>
            <p:nvPr/>
          </p:nvCxnSpPr>
          <p:spPr>
            <a:xfrm>
              <a:off x="-24090" y="693999"/>
              <a:ext cx="6909900" cy="0"/>
            </a:xfrm>
            <a:prstGeom prst="straightConnector1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5;p14"/>
            <p:cNvSpPr/>
            <p:nvPr/>
          </p:nvSpPr>
          <p:spPr>
            <a:xfrm>
              <a:off x="6885810" y="557049"/>
              <a:ext cx="273900" cy="273900"/>
            </a:xfrm>
            <a:prstGeom prst="ellipse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pic>
        <p:nvPicPr>
          <p:cNvPr id="9" name="Google Shape;55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77015" y="343409"/>
            <a:ext cx="860137" cy="1108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465812" y="612745"/>
            <a:ext cx="8212376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sz="4000" spc="-100" dirty="0">
                <a:solidFill>
                  <a:schemeClr val="tx1"/>
                </a:solidFill>
                <a:latin typeface="+mj-lt"/>
                <a:ea typeface="Roboto Bold" panose="02000000000000000000" pitchFamily="2" charset="0"/>
                <a:cs typeface="+mj-lt"/>
              </a:rPr>
              <a:t>Реляционный тензор</a:t>
            </a:r>
            <a:endParaRPr sz="4000" spc="-100" dirty="0">
              <a:solidFill>
                <a:schemeClr val="tx1"/>
              </a:solidFill>
              <a:latin typeface="+mj-lt"/>
              <a:ea typeface="Roboto Bold" panose="02000000000000000000" pitchFamily="2" charset="0"/>
              <a:cs typeface="+mj-lt"/>
            </a:endParaRPr>
          </a:p>
          <a:p>
            <a:pPr>
              <a:lnSpc>
                <a:spcPts val="4000"/>
              </a:lnSpc>
            </a:pPr>
            <a:endParaRPr sz="4000" spc="-100" dirty="0">
              <a:solidFill>
                <a:schemeClr val="tx1"/>
              </a:solidFill>
              <a:latin typeface="+mj-lt"/>
              <a:ea typeface="Roboto Bold" panose="02000000000000000000" pitchFamily="2" charset="0"/>
              <a:cs typeface="+mj-lt"/>
            </a:endParaRPr>
          </a:p>
          <a:p>
            <a:pPr>
              <a:lnSpc>
                <a:spcPts val="4000"/>
              </a:lnSpc>
            </a:pPr>
            <a:endParaRPr sz="4000" spc="-100" dirty="0">
              <a:solidFill>
                <a:schemeClr val="tx1"/>
              </a:solidFill>
              <a:latin typeface="+mj-lt"/>
              <a:ea typeface="Roboto Bold" panose="02000000000000000000" pitchFamily="2" charset="0"/>
              <a:cs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466090" y="1683385"/>
                <a:ext cx="7363460" cy="2088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Реляционный тензор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T, 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это такой тензор соответствующего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ℵ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(</a:t>
                </a:r>
                <a:r>
                  <a:rPr lang="ru-RU" dirty="0">
                    <a:sym typeface="+mn-ea"/>
                  </a:rPr>
                  <a:t>множества всех возможных шаблонов длины S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), </a:t>
                </a:r>
                <a:r>
                  <a:rPr lang="ru-RU" dirty="0"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что</a:t>
                </a:r>
                <a:r>
                  <a:rPr lang="en-US" altLang="ru-RU" dirty="0"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</a:t>
                </a:r>
                <a:r>
                  <a:rPr lang="ru-RU" altLang="ru-RU" dirty="0"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при </a:t>
                </a:r>
                <a:r>
                  <a:rPr lang="ru-RU" dirty="0"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присвоении его м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ульти</a:t>
                </a:r>
                <a:r>
                  <a:rPr lang="ru-RU" dirty="0"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индексу значения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𝑗𝑘</m:t>
                            </m:r>
                          </m:sub>
                        </m:s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𝑗𝑘</m:t>
                            </m:r>
                          </m:sub>
                          <m:sup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b="0" i="1">
                        <a:effectLst/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 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будут рассматриваться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S 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наблюдении с расстояниями </a:t>
                </a:r>
                <a:r>
                  <a:rPr lang="ru-RU" dirty="0">
                    <a:sym typeface="+mn-ea"/>
                  </a:rPr>
                  <a:t>между позициями наблюдений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и соответствующими значениями, которые принадлежат подынтервалам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  <m:r>
                          <a:rPr lang="en-US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𝑆𝑘</m:t>
                        </m:r>
                      </m:sub>
                      <m:sup>
                        <m:r>
                          <a:rPr lang="en-US" b="0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 </m:t>
                    </m:r>
                    <m:r>
                      <a:rPr lang="en-US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𝑘</m:t>
                    </m:r>
                    <m:r>
                      <a:rPr lang="en-US" b="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1</m:t>
                    </m:r>
                    <m:r>
                      <a:rPr lang="en-US" b="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,…,</m:t>
                    </m:r>
                    <m:r>
                      <a:rPr lang="en-US" b="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𝐾</m:t>
                    </m:r>
                  </m:oMath>
                </a14:m>
                <a:endParaRPr 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Значение соответствующего элемента тензора является оценкой вероятности такой ситуации.</a:t>
                </a: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l">
                  <a:buNone/>
                </a:pP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90" y="1683385"/>
                <a:ext cx="7363460" cy="20885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3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022760" y="4513699"/>
            <a:ext cx="2013299" cy="5727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Группа 5"/>
          <p:cNvGrpSpPr/>
          <p:nvPr/>
        </p:nvGrpSpPr>
        <p:grpSpPr>
          <a:xfrm>
            <a:off x="0" y="1178311"/>
            <a:ext cx="7183800" cy="273900"/>
            <a:chOff x="-24090" y="557049"/>
            <a:chExt cx="7183800" cy="273900"/>
          </a:xfrm>
        </p:grpSpPr>
        <p:cxnSp>
          <p:nvCxnSpPr>
            <p:cNvPr id="7" name="Google Shape;64;p14"/>
            <p:cNvCxnSpPr>
              <a:endCxn id="8" idx="2"/>
            </p:cNvCxnSpPr>
            <p:nvPr/>
          </p:nvCxnSpPr>
          <p:spPr>
            <a:xfrm>
              <a:off x="-24090" y="693999"/>
              <a:ext cx="6909900" cy="0"/>
            </a:xfrm>
            <a:prstGeom prst="straightConnector1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5;p14"/>
            <p:cNvSpPr/>
            <p:nvPr/>
          </p:nvSpPr>
          <p:spPr>
            <a:xfrm>
              <a:off x="6885810" y="557049"/>
              <a:ext cx="273900" cy="273900"/>
            </a:xfrm>
            <a:prstGeom prst="ellipse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pic>
        <p:nvPicPr>
          <p:cNvPr id="9" name="Google Shape;55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77015" y="343409"/>
            <a:ext cx="860137" cy="1108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-278" y="133320"/>
            <a:ext cx="8212376" cy="111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ru-RU" sz="4000" dirty="0">
                <a:sym typeface="+mn-ea"/>
              </a:rPr>
              <a:t>Метод генерации реляционного тензора</a:t>
            </a:r>
            <a:endParaRPr sz="4000" spc="-100" dirty="0">
              <a:solidFill>
                <a:schemeClr val="tx1"/>
              </a:solidFill>
              <a:latin typeface="+mj-lt"/>
              <a:ea typeface="Roboto Bold" panose="02000000000000000000" pitchFamily="2" charset="0"/>
              <a:cs typeface="+mj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6090" y="1683385"/>
            <a:ext cx="7363460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>
              <a:buSzTx/>
              <a:buNone/>
            </a:pPr>
            <a:r>
              <a:rPr lang="ru-RU" dirty="0">
                <a:sym typeface="+mn-ea"/>
              </a:rPr>
              <a:t>Чтобы сгенерировать реляционный тензор для временного ряда, авторы используют модифицированную оптимизацию муравьиной колонии. Центральная идея алгоритма</a:t>
            </a:r>
            <a:r>
              <a:rPr lang="ru-RU" dirty="0">
                <a:sym typeface="+mn-ea"/>
              </a:rPr>
              <a:t> (имитиация способа, которым колонии муравьев добывают пищу в дикой природе) состоит в перемещении в пространстве поиска и увеличении веса всех ребер на пути, при условии, что путь кажется правильным - «муравей» откладывает определенное количество феромона на пути с точки зрения алгоритма, и количество прямо пропорционально качеству пути. С другой стороны, вероятность того, что муравей выберет ребро, прямо пропорциональна количеству уже отложенного феромона. Этот алгоритм сочетает в себе вероятностный поиск, типичный для эволюционных алгоритмов, с достаточно высокой скоростью поиска, характерной для классических методов оптимизации. Стоит подчеркнуть, что алгоритм грубой силы для генерации тензора является недопустимым с точки зрения вычислений.</a:t>
            </a:r>
            <a:endParaRPr lang="ru-RU" dirty="0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3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022760" y="4513699"/>
            <a:ext cx="2013299" cy="5727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Группа 5"/>
          <p:cNvGrpSpPr/>
          <p:nvPr/>
        </p:nvGrpSpPr>
        <p:grpSpPr>
          <a:xfrm>
            <a:off x="0" y="1178311"/>
            <a:ext cx="7183800" cy="273900"/>
            <a:chOff x="-24090" y="557049"/>
            <a:chExt cx="7183800" cy="273900"/>
          </a:xfrm>
        </p:grpSpPr>
        <p:cxnSp>
          <p:nvCxnSpPr>
            <p:cNvPr id="7" name="Google Shape;64;p14"/>
            <p:cNvCxnSpPr>
              <a:endCxn id="8" idx="2"/>
            </p:cNvCxnSpPr>
            <p:nvPr/>
          </p:nvCxnSpPr>
          <p:spPr>
            <a:xfrm>
              <a:off x="-24090" y="693999"/>
              <a:ext cx="6909900" cy="0"/>
            </a:xfrm>
            <a:prstGeom prst="straightConnector1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5;p14"/>
            <p:cNvSpPr/>
            <p:nvPr/>
          </p:nvSpPr>
          <p:spPr>
            <a:xfrm>
              <a:off x="6885810" y="557049"/>
              <a:ext cx="273900" cy="273900"/>
            </a:xfrm>
            <a:prstGeom prst="ellipse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pic>
        <p:nvPicPr>
          <p:cNvPr id="9" name="Google Shape;55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77015" y="343409"/>
            <a:ext cx="860137" cy="1108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-278" y="133320"/>
            <a:ext cx="8212376" cy="111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ru-RU" sz="4000" dirty="0">
                <a:sym typeface="+mn-ea"/>
              </a:rPr>
              <a:t>Дополнительные параметры </a:t>
            </a:r>
            <a:endParaRPr lang="ru-RU" sz="4000" dirty="0">
              <a:sym typeface="+mn-ea"/>
            </a:endParaRPr>
          </a:p>
          <a:p>
            <a:pPr>
              <a:lnSpc>
                <a:spcPts val="4000"/>
              </a:lnSpc>
            </a:pPr>
            <a:r>
              <a:rPr lang="ru-RU" sz="4000" spc="-100" dirty="0">
                <a:solidFill>
                  <a:schemeClr val="tx1"/>
                </a:solidFill>
                <a:latin typeface="+mj-lt"/>
                <a:ea typeface="Roboto Bold" panose="02000000000000000000" pitchFamily="2" charset="0"/>
                <a:cs typeface="+mj-lt"/>
              </a:rPr>
              <a:t>введенного алгоритма</a:t>
            </a:r>
            <a:endParaRPr lang="ru-RU" sz="4000" spc="-100" dirty="0">
              <a:solidFill>
                <a:schemeClr val="tx1"/>
              </a:solidFill>
              <a:latin typeface="+mj-lt"/>
              <a:ea typeface="Roboto Bold" panose="02000000000000000000" pitchFamily="2" charset="0"/>
              <a:cs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466090" y="1683385"/>
                <a:ext cx="7363460" cy="2656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>
                  <a:buSzTx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0" dirty="0"/>
                        </m:ctrlPr>
                      </m:sSubPr>
                      <m:e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sym typeface="+mn-ea"/>
                  </a:rPr>
                  <a:t>- начальное количество феромона, отложенного на всех элементах тензора.</a:t>
                </a:r>
                <a:endParaRPr lang="ru-RU" dirty="0">
                  <a:sym typeface="+mn-ea"/>
                </a:endParaRPr>
              </a:p>
              <a:p>
                <a:pPr marL="285750" indent="-285750" algn="l">
                  <a:buSzTx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0" dirty="0"/>
                        </m:ctrlPr>
                      </m:sSubPr>
                      <m:e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sym typeface="+mn-ea"/>
                  </a:rPr>
                  <a:t> - количество переходов, которые совершает муравей перед тем, как он откладывает феромон в следующий раз (в течение одного шага алгоритма),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dirty="0"/>
                        </m:ctrlPr>
                      </m:sSubPr>
                      <m:e>
                        <m:r>
                          <a:rPr lang="ru-RU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ru-RU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b="0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ru-RU" b="0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ru-RU" b="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ru-RU" b="0" dirty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altLang="ru-RU" b="0" dirty="0">
                        <a:latin typeface="Cambria Math" panose="02040503050406030204" pitchFamily="18" charset="0"/>
                      </a:rPr>
                      <m:t> </m:t>
                    </m:r>
                    <m:r>
                      <a:rPr lang="ru-RU" b="0" dirty="0">
                        <a:latin typeface="Cambria Math" panose="02040503050406030204" pitchFamily="18" charset="0"/>
                      </a:rPr>
                      <m:t>чаще всего </m:t>
                    </m:r>
                    <m:sSub>
                      <m:sSubPr>
                        <m:ctrlPr>
                          <a:rPr lang="ru-RU" b="0" dirty="0"/>
                        </m:ctrlPr>
                      </m:sSubPr>
                      <m:e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b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ru-RU" b="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ru-RU" dirty="0">
                    <a:sym typeface="+mn-ea"/>
                  </a:rPr>
                  <a:t> наблюдений.</a:t>
                </a:r>
                <a:endParaRPr lang="ru-RU" dirty="0"/>
              </a:p>
              <a:p>
                <a:pPr marL="285750" indent="-285750" algn="l">
                  <a:buSzTx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dirty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ru-RU" b="0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>
                    <a:sym typeface="+mn-ea"/>
                  </a:rPr>
                  <a:t> - количество феромона, которое муравей откладывает на завершенном пути.</a:t>
                </a:r>
                <a:endParaRPr lang="ru-RU" dirty="0"/>
              </a:p>
              <a:p>
                <a:pPr marL="285750" indent="-285750" algn="l">
                  <a:buSzTx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0" dirty="0"/>
                        </m:ctrlPr>
                      </m:sSubPr>
                      <m:e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>
                    <a:sym typeface="+mn-ea"/>
                  </a:rPr>
                  <a:t> - общее количество переходов, которые муравей может совершить при движении по временному ряду,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dirty="0"/>
                        </m:ctrlPr>
                      </m:sSubPr>
                      <m:e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b="0" dirty="0"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ru-RU" b="0" dirty="0"/>
                        </m:ctrlPr>
                      </m:sSubPr>
                      <m:e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sym typeface="+mn-ea"/>
                  </a:rPr>
                  <a:t>, обычно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dirty="0"/>
                        </m:ctrlPr>
                      </m:sSubPr>
                      <m:e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dirty="0">
                        <a:latin typeface="Cambria Math" panose="02040503050406030204" pitchFamily="18" charset="0"/>
                      </a:rPr>
                      <m:t>~ </m:t>
                    </m:r>
                    <m:r>
                      <m:rPr>
                        <m:sty m:val="p"/>
                      </m:rPr>
                      <a:rPr lang="en-US" b="0" dirty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ru-RU" dirty="0">
                    <a:sym typeface="+mn-ea"/>
                  </a:rPr>
                  <a:t>, таким образом, </a:t>
                </a:r>
                <a:r>
                  <a:rPr lang="ru-RU" dirty="0">
                    <a:sym typeface="+mn-ea"/>
                  </a:rPr>
                  <a:t>муравей не прекратит свое движение пока не достигнет конца ряда.</a:t>
                </a:r>
                <a:endParaRPr lang="ru-RU" dirty="0"/>
              </a:p>
              <a:p>
                <a:pPr marL="285750" indent="-285750" algn="l">
                  <a:buSzTx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b="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dirty="0">
                        <a:latin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ru-RU" b="0" dirty="0"/>
                        </m:ctrlPr>
                      </m:sSubPr>
                      <m:e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ru-RU" b="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dirty="0">
                        <a:latin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ru-RU" dirty="0"/>
                        </m:ctrlPr>
                      </m:sSubPr>
                      <m:e>
                        <m:r>
                          <a:rPr lang="ru-RU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ru-RU" b="0" dirty="0">
                        <a:latin typeface="Cambria Math" panose="02040503050406030204" pitchFamily="18" charset="0"/>
                      </a:rPr>
                      <m:t>≪∆</m:t>
                    </m:r>
                    <m:r>
                      <a:rPr lang="ru-RU" b="0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ru-RU" b="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sym typeface="+mn-ea"/>
                  </a:rPr>
                  <a:t>- количество феромона, «испаряющегося» </a:t>
                </a:r>
                <a:r>
                  <a:rPr lang="en-US" altLang="ru-RU" dirty="0">
                    <a:sym typeface="+mn-ea"/>
                  </a:rPr>
                  <a:t>co</a:t>
                </a:r>
                <a:r>
                  <a:rPr lang="ru-RU" dirty="0">
                    <a:sym typeface="+mn-ea"/>
                  </a:rPr>
                  <a:t> всех элементов тензора (все элементы тензора уменьшаются на одно и то же значение) после каждого шага</a:t>
                </a:r>
                <a:r>
                  <a:rPr lang="en-US" altLang="ru-RU" dirty="0">
                    <a:sym typeface="+mn-ea"/>
                  </a:rPr>
                  <a:t>.</a:t>
                </a:r>
                <a:endParaRPr lang="en-US" altLang="ru-RU" dirty="0">
                  <a:sym typeface="+mn-ea"/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90" y="1683385"/>
                <a:ext cx="7363460" cy="265620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3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022760" y="4513699"/>
            <a:ext cx="2013299" cy="5727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Группа 5"/>
          <p:cNvGrpSpPr/>
          <p:nvPr/>
        </p:nvGrpSpPr>
        <p:grpSpPr>
          <a:xfrm>
            <a:off x="0" y="1178311"/>
            <a:ext cx="7183800" cy="273900"/>
            <a:chOff x="-24090" y="557049"/>
            <a:chExt cx="7183800" cy="273900"/>
          </a:xfrm>
        </p:grpSpPr>
        <p:cxnSp>
          <p:nvCxnSpPr>
            <p:cNvPr id="7" name="Google Shape;64;p14"/>
            <p:cNvCxnSpPr>
              <a:endCxn id="8" idx="2"/>
            </p:cNvCxnSpPr>
            <p:nvPr/>
          </p:nvCxnSpPr>
          <p:spPr>
            <a:xfrm>
              <a:off x="-24090" y="693999"/>
              <a:ext cx="6909900" cy="0"/>
            </a:xfrm>
            <a:prstGeom prst="straightConnector1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5;p14"/>
            <p:cNvSpPr/>
            <p:nvPr/>
          </p:nvSpPr>
          <p:spPr>
            <a:xfrm>
              <a:off x="6885810" y="557049"/>
              <a:ext cx="273900" cy="273900"/>
            </a:xfrm>
            <a:prstGeom prst="ellipse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pic>
        <p:nvPicPr>
          <p:cNvPr id="9" name="Google Shape;55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77015" y="343409"/>
            <a:ext cx="860137" cy="1108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-278" y="133320"/>
            <a:ext cx="8212376" cy="111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ru-RU" sz="4000" dirty="0">
                <a:sym typeface="+mn-ea"/>
              </a:rPr>
              <a:t>Дополнительные параметры </a:t>
            </a:r>
            <a:endParaRPr lang="ru-RU" sz="4000" dirty="0">
              <a:sym typeface="+mn-ea"/>
            </a:endParaRPr>
          </a:p>
          <a:p>
            <a:pPr>
              <a:lnSpc>
                <a:spcPts val="4000"/>
              </a:lnSpc>
            </a:pPr>
            <a:r>
              <a:rPr lang="ru-RU" sz="4000" spc="-100" dirty="0">
                <a:solidFill>
                  <a:schemeClr val="tx1"/>
                </a:solidFill>
                <a:latin typeface="+mj-lt"/>
                <a:ea typeface="Roboto Bold" panose="02000000000000000000" pitchFamily="2" charset="0"/>
                <a:cs typeface="+mj-lt"/>
              </a:rPr>
              <a:t>введенного алгоритма</a:t>
            </a:r>
            <a:endParaRPr lang="ru-RU" sz="4000" spc="-100" dirty="0">
              <a:solidFill>
                <a:schemeClr val="tx1"/>
              </a:solidFill>
              <a:latin typeface="+mj-lt"/>
              <a:ea typeface="Roboto Bold" panose="02000000000000000000" pitchFamily="2" charset="0"/>
              <a:cs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466090" y="1683385"/>
                <a:ext cx="7363460" cy="2656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>
                  <a:buSzTx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0" dirty="0"/>
                        </m:ctrlPr>
                      </m:sSubPr>
                      <m:e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sym typeface="+mn-ea"/>
                  </a:rPr>
                  <a:t>- начальное количество феромона, отложенного на всех элементах тензора.</a:t>
                </a:r>
                <a:endParaRPr lang="ru-RU" dirty="0">
                  <a:sym typeface="+mn-ea"/>
                </a:endParaRPr>
              </a:p>
              <a:p>
                <a:pPr marL="285750" indent="-285750" algn="l">
                  <a:buSzTx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0" dirty="0"/>
                        </m:ctrlPr>
                      </m:sSubPr>
                      <m:e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sym typeface="+mn-ea"/>
                  </a:rPr>
                  <a:t> - количество переходов, которые совершает муравей перед тем, как он откладывает феромон в следующий раз (в течение одного шага алгоритма),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dirty="0"/>
                        </m:ctrlPr>
                      </m:sSubPr>
                      <m:e>
                        <m:r>
                          <a:rPr lang="ru-RU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ru-RU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b="0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ru-RU" b="0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ru-RU" b="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ru-RU" b="0" dirty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altLang="ru-RU" b="0" dirty="0">
                        <a:latin typeface="Cambria Math" panose="02040503050406030204" pitchFamily="18" charset="0"/>
                      </a:rPr>
                      <m:t> </m:t>
                    </m:r>
                    <m:r>
                      <a:rPr lang="ru-RU" b="0" dirty="0">
                        <a:latin typeface="Cambria Math" panose="02040503050406030204" pitchFamily="18" charset="0"/>
                      </a:rPr>
                      <m:t>чаще всего </m:t>
                    </m:r>
                    <m:sSub>
                      <m:sSubPr>
                        <m:ctrlPr>
                          <a:rPr lang="ru-RU" b="0" dirty="0"/>
                        </m:ctrlPr>
                      </m:sSubPr>
                      <m:e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b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ru-RU" b="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ru-RU" dirty="0">
                    <a:sym typeface="+mn-ea"/>
                  </a:rPr>
                  <a:t> наблюдений.</a:t>
                </a:r>
                <a:endParaRPr lang="ru-RU" dirty="0"/>
              </a:p>
              <a:p>
                <a:pPr marL="285750" indent="-285750" algn="l">
                  <a:buSzTx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dirty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ru-RU" b="0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>
                    <a:sym typeface="+mn-ea"/>
                  </a:rPr>
                  <a:t> - количество феромона, которое муравей откладывает на завершенном пути.</a:t>
                </a:r>
                <a:endParaRPr lang="ru-RU" dirty="0"/>
              </a:p>
              <a:p>
                <a:pPr marL="285750" indent="-285750" algn="l">
                  <a:buSzTx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0" dirty="0"/>
                        </m:ctrlPr>
                      </m:sSubPr>
                      <m:e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>
                    <a:sym typeface="+mn-ea"/>
                  </a:rPr>
                  <a:t> - общее количество переходов, которые муравей может совершить при движении по временному ряду,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dirty="0"/>
                        </m:ctrlPr>
                      </m:sSubPr>
                      <m:e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b="0" dirty="0"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ru-RU" b="0" dirty="0"/>
                        </m:ctrlPr>
                      </m:sSubPr>
                      <m:e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sym typeface="+mn-ea"/>
                  </a:rPr>
                  <a:t>, обычно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dirty="0"/>
                        </m:ctrlPr>
                      </m:sSubPr>
                      <m:e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dirty="0">
                        <a:latin typeface="Cambria Math" panose="02040503050406030204" pitchFamily="18" charset="0"/>
                      </a:rPr>
                      <m:t>~ </m:t>
                    </m:r>
                    <m:r>
                      <m:rPr>
                        <m:sty m:val="p"/>
                      </m:rPr>
                      <a:rPr lang="en-US" b="0" dirty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ru-RU" dirty="0">
                    <a:sym typeface="+mn-ea"/>
                  </a:rPr>
                  <a:t>, таким образом, </a:t>
                </a:r>
                <a:r>
                  <a:rPr lang="ru-RU" dirty="0">
                    <a:sym typeface="+mn-ea"/>
                  </a:rPr>
                  <a:t>муравей не прекратит свое движение пока не достигнет конца ряда.</a:t>
                </a:r>
                <a:endParaRPr lang="ru-RU" dirty="0"/>
              </a:p>
              <a:p>
                <a:pPr marL="285750" indent="-285750" algn="l">
                  <a:buSzTx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b="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dirty="0">
                        <a:latin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ru-RU" b="0" dirty="0"/>
                        </m:ctrlPr>
                      </m:sSubPr>
                      <m:e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b="0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ru-RU" b="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dirty="0">
                        <a:latin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ru-RU" dirty="0"/>
                        </m:ctrlPr>
                      </m:sSubPr>
                      <m:e>
                        <m:r>
                          <a:rPr lang="ru-RU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ru-RU" b="0" dirty="0">
                        <a:latin typeface="Cambria Math" panose="02040503050406030204" pitchFamily="18" charset="0"/>
                      </a:rPr>
                      <m:t>≪∆</m:t>
                    </m:r>
                    <m:r>
                      <a:rPr lang="ru-RU" b="0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ru-RU" b="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sym typeface="+mn-ea"/>
                  </a:rPr>
                  <a:t>- количество феромона, «испаряющегося» </a:t>
                </a:r>
                <a:r>
                  <a:rPr lang="en-US" altLang="ru-RU" dirty="0">
                    <a:sym typeface="+mn-ea"/>
                  </a:rPr>
                  <a:t>co</a:t>
                </a:r>
                <a:r>
                  <a:rPr lang="ru-RU" dirty="0">
                    <a:sym typeface="+mn-ea"/>
                  </a:rPr>
                  <a:t> всех элементов тензора (все элементы тензора уменьшаются на одно и то же значение) после каждого шага</a:t>
                </a:r>
                <a:r>
                  <a:rPr lang="en-US" altLang="ru-RU" dirty="0">
                    <a:sym typeface="+mn-ea"/>
                  </a:rPr>
                  <a:t>.</a:t>
                </a:r>
                <a:endParaRPr lang="en-US" altLang="ru-RU" dirty="0">
                  <a:sym typeface="+mn-ea"/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90" y="1683385"/>
                <a:ext cx="7363460" cy="265620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3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022760" y="4513699"/>
            <a:ext cx="2013299" cy="5727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Группа 5"/>
          <p:cNvGrpSpPr/>
          <p:nvPr/>
        </p:nvGrpSpPr>
        <p:grpSpPr>
          <a:xfrm>
            <a:off x="0" y="1178311"/>
            <a:ext cx="7183800" cy="273900"/>
            <a:chOff x="-24090" y="557049"/>
            <a:chExt cx="7183800" cy="273900"/>
          </a:xfrm>
        </p:grpSpPr>
        <p:cxnSp>
          <p:nvCxnSpPr>
            <p:cNvPr id="7" name="Google Shape;64;p14"/>
            <p:cNvCxnSpPr>
              <a:endCxn id="8" idx="2"/>
            </p:cNvCxnSpPr>
            <p:nvPr/>
          </p:nvCxnSpPr>
          <p:spPr>
            <a:xfrm>
              <a:off x="-24090" y="693999"/>
              <a:ext cx="6909900" cy="0"/>
            </a:xfrm>
            <a:prstGeom prst="straightConnector1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5;p14"/>
            <p:cNvSpPr/>
            <p:nvPr/>
          </p:nvSpPr>
          <p:spPr>
            <a:xfrm>
              <a:off x="6885810" y="557049"/>
              <a:ext cx="273900" cy="273900"/>
            </a:xfrm>
            <a:prstGeom prst="ellipse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pic>
        <p:nvPicPr>
          <p:cNvPr id="9" name="Google Shape;55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77015" y="343409"/>
            <a:ext cx="860137" cy="110880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466090" y="1683385"/>
                <a:ext cx="7363460" cy="16757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ru-RU" dirty="0">
                    <a:sym typeface="+mn-ea"/>
                  </a:rPr>
                  <a:t>Процедура Quantify(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dirty="0"/>
                        </m:ctrlPr>
                      </m:sSubPr>
                      <m:e>
                        <m:r>
                          <a:rPr lang="ru-RU" dirty="0"/>
                          <m:t>𝑥</m:t>
                        </m:r>
                      </m:e>
                      <m:sub>
                        <m:r>
                          <a:rPr lang="ru-RU" dirty="0"/>
                          <m:t>𝑖𝑘</m:t>
                        </m:r>
                      </m:sub>
                    </m:sSub>
                  </m:oMath>
                </a14:m>
                <a:r>
                  <a:rPr lang="ru-RU" dirty="0">
                    <a:sym typeface="+mn-ea"/>
                  </a:rPr>
                  <a:t>) возвращает набор интервалов, которым принадлежит входной набор нормализованных действительных чисел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dirty="0"/>
                        </m:ctrlPr>
                      </m:sSubPr>
                      <m:e>
                        <m:r>
                          <a:rPr lang="ru-RU" b="0" dirty="0"/>
                          <m:t>𝑥</m:t>
                        </m:r>
                      </m:e>
                      <m:sub>
                        <m:r>
                          <a:rPr lang="ru-RU" b="0" dirty="0"/>
                          <m:t>𝑖𝑘</m:t>
                        </m:r>
                      </m:sub>
                    </m:sSub>
                    <m:r>
                      <a:rPr lang="ru-RU" b="0" dirty="0"/>
                      <m:t>, </m:t>
                    </m:r>
                    <m:r>
                      <a:rPr lang="ru-RU" b="0" dirty="0"/>
                      <m:t>𝑘</m:t>
                    </m:r>
                    <m:r>
                      <a:rPr lang="ru-RU" b="0" dirty="0"/>
                      <m:t>=</m:t>
                    </m:r>
                    <m:r>
                      <a:rPr lang="ru-RU" b="0" dirty="0"/>
                      <m:t>1</m:t>
                    </m:r>
                    <m:r>
                      <a:rPr lang="ru-RU" b="0" dirty="0"/>
                      <m:t>,…,</m:t>
                    </m:r>
                    <m:r>
                      <a:rPr lang="ru-RU" b="0" dirty="0"/>
                      <m:t>𝐾</m:t>
                    </m:r>
                  </m:oMath>
                </a14:m>
                <a:r>
                  <a:rPr lang="ru-RU" dirty="0">
                    <a:sym typeface="+mn-ea"/>
                  </a:rPr>
                  <a:t>.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>
                    <a:sym typeface="+mn-ea"/>
                  </a:rPr>
                  <a:t>Процедура ConstTensor(a) заполняет элементы тензора с заданным значением a.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>
                    <a:sym typeface="+mn-ea"/>
                  </a:rPr>
                  <a:t>Оператор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dirty="0"/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ru-RU" dirty="0"/>
                            </m:ctrlPr>
                          </m:dPr>
                          <m:e>
                            <m:r>
                              <a:rPr lang="ru-RU" b="0" dirty="0"/>
                              <m:t>𝑇</m:t>
                            </m:r>
                          </m:e>
                        </m:d>
                      </m:e>
                      <m:sub>
                        <m:r>
                          <a:rPr lang="ru-RU" b="0" dirty="0"/>
                          <m:t>+</m:t>
                        </m:r>
                      </m:sub>
                    </m:sSub>
                  </m:oMath>
                </a14:m>
                <a:r>
                  <a:rPr lang="ru-RU" dirty="0">
                    <a:sym typeface="+mn-ea"/>
                  </a:rPr>
                  <a:t> заменяет все отрицательные элементы тензора T на 0.</a:t>
                </a: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>
                    <a:sym typeface="+mn-ea"/>
                  </a:rPr>
                  <a:t>Для алгоритма генерации реляционного тензора временной ряд служит входными данными, а заполненный реляционный тензор - его выходными данными.</a:t>
                </a:r>
                <a:endParaRPr lang="ru-RU" dirty="0">
                  <a:sym typeface="+mn-ea"/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90" y="1683385"/>
                <a:ext cx="7363460" cy="16757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Текстовое поле 2"/>
          <p:cNvSpPr txBox="1"/>
          <p:nvPr/>
        </p:nvSpPr>
        <p:spPr>
          <a:xfrm>
            <a:off x="379095" y="169545"/>
            <a:ext cx="7174230" cy="1671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ts val="4000"/>
              </a:lnSpc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Дополнительные параметры </a:t>
            </a:r>
            <a:r>
              <a:rPr lang="ru-RU" sz="3600" spc="-100" dirty="0">
                <a:solidFill>
                  <a:schemeClr val="tx1"/>
                </a:solidFill>
                <a:latin typeface="Arial" panose="020B0604020202020204" pitchFamily="34" charset="0"/>
                <a:ea typeface="Roboto Bold" panose="02000000000000000000" pitchFamily="2" charset="0"/>
                <a:cs typeface="Arial" panose="020B0604020202020204" pitchFamily="34" charset="0"/>
                <a:sym typeface="+mn-ea"/>
              </a:rPr>
              <a:t>введенного алгоритма</a:t>
            </a:r>
            <a:endParaRPr lang="ru-RU" sz="3600" spc="-100" dirty="0">
              <a:solidFill>
                <a:schemeClr val="tx1"/>
              </a:solidFill>
              <a:latin typeface="Arial" panose="020B0604020202020204" pitchFamily="34" charset="0"/>
              <a:ea typeface="Roboto Bold" panose="02000000000000000000" pitchFamily="2" charset="0"/>
              <a:cs typeface="Arial" panose="020B0604020202020204" pitchFamily="34" charset="0"/>
            </a:endParaRPr>
          </a:p>
          <a:p>
            <a:endParaRPr lang="ru-RU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3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022760" y="4513699"/>
            <a:ext cx="2013299" cy="5727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Группа 5"/>
          <p:cNvGrpSpPr/>
          <p:nvPr/>
        </p:nvGrpSpPr>
        <p:grpSpPr>
          <a:xfrm>
            <a:off x="0" y="1178311"/>
            <a:ext cx="7183800" cy="273900"/>
            <a:chOff x="-24090" y="557049"/>
            <a:chExt cx="7183800" cy="273900"/>
          </a:xfrm>
        </p:grpSpPr>
        <p:cxnSp>
          <p:nvCxnSpPr>
            <p:cNvPr id="7" name="Google Shape;64;p14"/>
            <p:cNvCxnSpPr>
              <a:endCxn id="8" idx="2"/>
            </p:cNvCxnSpPr>
            <p:nvPr/>
          </p:nvCxnSpPr>
          <p:spPr>
            <a:xfrm>
              <a:off x="-24090" y="693999"/>
              <a:ext cx="6909900" cy="0"/>
            </a:xfrm>
            <a:prstGeom prst="straightConnector1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5;p14"/>
            <p:cNvSpPr/>
            <p:nvPr/>
          </p:nvSpPr>
          <p:spPr>
            <a:xfrm>
              <a:off x="6885810" y="557049"/>
              <a:ext cx="273900" cy="273900"/>
            </a:xfrm>
            <a:prstGeom prst="ellipse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pic>
        <p:nvPicPr>
          <p:cNvPr id="9" name="Google Shape;55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77015" y="343409"/>
            <a:ext cx="860137" cy="110880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466090" y="1683385"/>
                <a:ext cx="7363460" cy="2675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𝐶𝑜𝑛𝑠𝑡𝑇𝑒𝑛𝑠𝑜𝑟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Шаг алгоритма:</a:t>
                </a:r>
                <a:endParaRPr lang="ru-RU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 1. 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Выбирается случайная позиция во временном ряду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𝑅𝑎𝑛𝑑𝑜𝑚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)</a:t>
                </a:r>
                <a:endParaRPr lang="en-US" b="0" i="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 2. 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Муравей делает</a:t>
                </a:r>
                <a:r>
                  <a:rPr lang="en-US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переход</a:t>
                </a:r>
                <a:r>
                  <a:rPr lang="ru-RU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ов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. Для произвольного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он делает следующее:</a:t>
                </a:r>
                <a:endParaRPr lang="ru-RU" b="0" i="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   </a:t>
                </a:r>
                <a:r>
                  <a:rPr lang="ru-RU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2.1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𝑄𝑢𝑎𝑛𝑡𝑖𝑓𝑦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   2.2 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Выбирается следующая позиция, где вероятность перехода на</a:t>
                </a:r>
                <a:r>
                  <a:rPr lang="en-US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позицию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определяется как:</a:t>
                </a:r>
                <a:endParaRPr lang="ru-RU" b="0" i="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𝑞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9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9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 …,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9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m:rPr>
                                  <m:brk m:alnAt="9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9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9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…,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9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brk m:alnAt="9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9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,…,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,…, 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 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9"/>
                                    </m:r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9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 …,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9"/>
                                    </m:r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m:rPr>
                                  <m:brk m:alnAt="9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9"/>
                                    </m:r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m:rPr>
                                  <m:brk m:alnAt="9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…,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9"/>
                                    </m:r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brk m:alnAt="9"/>
                                    </m:r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9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,…,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,…, 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b="0" i="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b="0" i="1" dirty="0" smtClean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90" y="1683385"/>
                <a:ext cx="7363460" cy="267589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Текстовое поле 2"/>
          <p:cNvSpPr txBox="1"/>
          <p:nvPr/>
        </p:nvSpPr>
        <p:spPr>
          <a:xfrm>
            <a:off x="379095" y="169545"/>
            <a:ext cx="71742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sz="3600" dirty="0">
                <a:solidFill>
                  <a:schemeClr val="tx1"/>
                </a:solidFill>
                <a:sym typeface="+mn-ea"/>
              </a:rPr>
              <a:t>Алгоритм 1(генерация реляционного тензора)</a:t>
            </a:r>
            <a:endParaRPr lang="ru-RU" altLang="en-US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3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022760" y="4513699"/>
            <a:ext cx="2013299" cy="5727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Группа 5"/>
          <p:cNvGrpSpPr/>
          <p:nvPr/>
        </p:nvGrpSpPr>
        <p:grpSpPr>
          <a:xfrm>
            <a:off x="0" y="1178311"/>
            <a:ext cx="7183800" cy="273900"/>
            <a:chOff x="-24090" y="557049"/>
            <a:chExt cx="7183800" cy="273900"/>
          </a:xfrm>
        </p:grpSpPr>
        <p:cxnSp>
          <p:nvCxnSpPr>
            <p:cNvPr id="7" name="Google Shape;64;p14"/>
            <p:cNvCxnSpPr>
              <a:endCxn id="8" idx="2"/>
            </p:cNvCxnSpPr>
            <p:nvPr/>
          </p:nvCxnSpPr>
          <p:spPr>
            <a:xfrm>
              <a:off x="-24090" y="693999"/>
              <a:ext cx="6909900" cy="0"/>
            </a:xfrm>
            <a:prstGeom prst="straightConnector1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5;p14"/>
            <p:cNvSpPr/>
            <p:nvPr/>
          </p:nvSpPr>
          <p:spPr>
            <a:xfrm>
              <a:off x="6885810" y="557049"/>
              <a:ext cx="273900" cy="273900"/>
            </a:xfrm>
            <a:prstGeom prst="ellipse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pic>
        <p:nvPicPr>
          <p:cNvPr id="9" name="Google Shape;55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77015" y="343409"/>
            <a:ext cx="860137" cy="110880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466090" y="1683385"/>
                <a:ext cx="7363460" cy="20313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 3. 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После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переходов алгоритм выполняет следующие операции</a:t>
                </a: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:</a:t>
                </a:r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   3.1 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Феромон откладывается по пути муравьев</a:t>
                </a:r>
                <a:r>
                  <a:rPr lang="en-US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:</a:t>
                </a:r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𝑆</m:t>
                            </m:r>
                          </m:sub>
                          <m:sup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 …,</m:t>
                        </m:r>
                        <m:sSubSup>
                          <m:sSubSupPr>
                            <m:ctrlPr>
                              <a:rPr lang="en-US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b="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𝑆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 …,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+∆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   3.2 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Феромон испаряется из всех элементов тензора</a:t>
                </a: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:</a:t>
                </a:r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𝐶𝑜𝑛𝑠𝑡𝑇𝑒𝑛𝑠𝑜𝑟</m:t>
                              </m:r>
                              <m:d>
                                <m:d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∆</m:t>
                                  </m:r>
                                  <m:sSub>
                                    <m:sSubPr>
                                      <m:ctrlP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После этого в этот временной ряд случайным образом помещается новый муравей.</a:t>
                </a:r>
                <a:endParaRPr lang="en-US" b="0" i="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Возможный критерий завершения может быть определен следующим образом:</a:t>
                </a:r>
                <a:endParaRPr lang="en-US" b="0" i="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 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1. </a:t>
                </a:r>
                <a:r>
                  <a:rPr lang="ru-RU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По м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аксимальному количеству шагов муравьев по временному ряду.</a:t>
                </a:r>
                <a:endParaRPr lang="ru-RU" b="0" i="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 2. Малое изменение элементов тензора на нескольких последовательных шагах.</a:t>
                </a:r>
                <a:endParaRPr lang="ru-RU" b="0" i="1" dirty="0" smtClean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90" y="1683385"/>
                <a:ext cx="7363460" cy="20313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Текстовое поле 2"/>
          <p:cNvSpPr txBox="1"/>
          <p:nvPr/>
        </p:nvSpPr>
        <p:spPr>
          <a:xfrm>
            <a:off x="379095" y="169545"/>
            <a:ext cx="71742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sz="3600" dirty="0">
                <a:solidFill>
                  <a:schemeClr val="tx1"/>
                </a:solidFill>
                <a:sym typeface="+mn-ea"/>
              </a:rPr>
              <a:t>Алгоритм 1(генерация реляционного тензора)</a:t>
            </a:r>
            <a:endParaRPr lang="ru-RU" altLang="en-US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3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022760" y="4513699"/>
            <a:ext cx="2013299" cy="5727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Группа 5"/>
          <p:cNvGrpSpPr/>
          <p:nvPr/>
        </p:nvGrpSpPr>
        <p:grpSpPr>
          <a:xfrm>
            <a:off x="0" y="1178311"/>
            <a:ext cx="7183800" cy="273900"/>
            <a:chOff x="-24090" y="557049"/>
            <a:chExt cx="7183800" cy="273900"/>
          </a:xfrm>
        </p:grpSpPr>
        <p:cxnSp>
          <p:nvCxnSpPr>
            <p:cNvPr id="7" name="Google Shape;64;p14"/>
            <p:cNvCxnSpPr>
              <a:endCxn id="8" idx="2"/>
            </p:cNvCxnSpPr>
            <p:nvPr/>
          </p:nvCxnSpPr>
          <p:spPr>
            <a:xfrm>
              <a:off x="-24090" y="693999"/>
              <a:ext cx="6909900" cy="0"/>
            </a:xfrm>
            <a:prstGeom prst="straightConnector1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5;p14"/>
            <p:cNvSpPr/>
            <p:nvPr/>
          </p:nvSpPr>
          <p:spPr>
            <a:xfrm>
              <a:off x="6885810" y="557049"/>
              <a:ext cx="273900" cy="273900"/>
            </a:xfrm>
            <a:prstGeom prst="ellipse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pic>
        <p:nvPicPr>
          <p:cNvPr id="9" name="Google Shape;55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77015" y="343409"/>
            <a:ext cx="860137" cy="1108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-278" y="133320"/>
            <a:ext cx="8212376" cy="111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ru-RU" sz="4000">
                <a:solidFill>
                  <a:schemeClr val="tx1"/>
                </a:solidFill>
                <a:sym typeface="+mn-ea"/>
              </a:rPr>
              <a:t>Алгоритм 2(генерация временного ряда)</a:t>
            </a:r>
            <a:endParaRPr lang="ru-RU" sz="4000" spc="-100" dirty="0">
              <a:solidFill>
                <a:schemeClr val="tx1"/>
              </a:solidFill>
              <a:latin typeface="+mj-lt"/>
              <a:ea typeface="Roboto Bold" panose="02000000000000000000" pitchFamily="2" charset="0"/>
              <a:cs typeface="+mj-lt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04165" y="1868805"/>
                <a:ext cx="7461250" cy="1168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ru-RU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Чтобы сгенерировать временной ряд с использованием заданного реляционного тензора, авторы использовали алгоритм 2. (Предлагается, что случайные наблюдения начального временного ряда были взяты в качестве начальных условий.) Параметр рассматриваемого алгоритма равен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ru-RU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- общее количество переходов, которое может сделать муравей, прежде чем он будет заменен другим муравьем.</a:t>
                </a:r>
                <a:endParaRPr lang="ru-RU" altLang="ru-RU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65" y="1868805"/>
                <a:ext cx="7461250" cy="11684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3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022760" y="4513699"/>
            <a:ext cx="2013299" cy="5727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Группа 5"/>
          <p:cNvGrpSpPr/>
          <p:nvPr/>
        </p:nvGrpSpPr>
        <p:grpSpPr>
          <a:xfrm>
            <a:off x="0" y="1178311"/>
            <a:ext cx="7183800" cy="273900"/>
            <a:chOff x="-24090" y="557049"/>
            <a:chExt cx="7183800" cy="273900"/>
          </a:xfrm>
        </p:grpSpPr>
        <p:cxnSp>
          <p:nvCxnSpPr>
            <p:cNvPr id="7" name="Google Shape;64;p14"/>
            <p:cNvCxnSpPr>
              <a:endCxn id="8" idx="2"/>
            </p:cNvCxnSpPr>
            <p:nvPr/>
          </p:nvCxnSpPr>
          <p:spPr>
            <a:xfrm>
              <a:off x="-24090" y="693999"/>
              <a:ext cx="6909900" cy="0"/>
            </a:xfrm>
            <a:prstGeom prst="straightConnector1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5;p14"/>
            <p:cNvSpPr/>
            <p:nvPr/>
          </p:nvSpPr>
          <p:spPr>
            <a:xfrm>
              <a:off x="6885810" y="557049"/>
              <a:ext cx="273900" cy="273900"/>
            </a:xfrm>
            <a:prstGeom prst="ellipse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pic>
        <p:nvPicPr>
          <p:cNvPr id="9" name="Google Shape;55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77015" y="343409"/>
            <a:ext cx="860137" cy="1108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-278" y="133320"/>
            <a:ext cx="8212376" cy="111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ru-RU" sz="4000">
                <a:solidFill>
                  <a:schemeClr val="tx1"/>
                </a:solidFill>
                <a:sym typeface="+mn-ea"/>
              </a:rPr>
              <a:t>Алгоритм 2(генерация временного ряда)</a:t>
            </a:r>
            <a:endParaRPr lang="ru-RU" sz="4000" spc="-100" dirty="0">
              <a:solidFill>
                <a:schemeClr val="tx1"/>
              </a:solidFill>
              <a:latin typeface="+mj-lt"/>
              <a:ea typeface="Roboto Bold" panose="02000000000000000000" pitchFamily="2" charset="0"/>
              <a:cs typeface="+mj-lt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04165" y="1868805"/>
                <a:ext cx="7461250" cy="2322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Муравей размещается на элементе тензора, определяемом начальными условиями (для первого муравья) или уже заполненными позициями (для всех остальных муравьев). В последнем случае из набора уже заполненных наблюдений алгоритм выбирает то, которое непосредственно предшествует первому незаполненному. Это становится следующей стартовой позицией.</a:t>
                </a:r>
                <a:endParaRPr lang="en-US" b="0" i="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Как позиция, в которую проходит муравей, так и интервал, которому принадлежит </a:t>
                </a:r>
                <a:r>
                  <a:rPr lang="ru-RU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значение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соответствующего наблюдения, вероятностно определяются как:</a:t>
                </a:r>
                <a:endParaRPr lang="en-US" b="0" i="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,…,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 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 …,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9"/>
                                    </m:r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m:rPr>
                                  <m:brk m:alnAt="9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9"/>
                                    </m:r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brk m:alnAt="9"/>
                                    </m:r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9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,…,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,…, 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ru-RU" i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65" y="1868805"/>
                <a:ext cx="7461250" cy="23228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3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022760" y="4513699"/>
            <a:ext cx="2013299" cy="5727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Группа 5"/>
          <p:cNvGrpSpPr/>
          <p:nvPr/>
        </p:nvGrpSpPr>
        <p:grpSpPr>
          <a:xfrm>
            <a:off x="0" y="1178311"/>
            <a:ext cx="7183800" cy="273900"/>
            <a:chOff x="-24090" y="557049"/>
            <a:chExt cx="7183800" cy="273900"/>
          </a:xfrm>
        </p:grpSpPr>
        <p:cxnSp>
          <p:nvCxnSpPr>
            <p:cNvPr id="7" name="Google Shape;64;p14"/>
            <p:cNvCxnSpPr>
              <a:endCxn id="8" idx="2"/>
            </p:cNvCxnSpPr>
            <p:nvPr/>
          </p:nvCxnSpPr>
          <p:spPr>
            <a:xfrm>
              <a:off x="-24090" y="693999"/>
              <a:ext cx="6909900" cy="0"/>
            </a:xfrm>
            <a:prstGeom prst="straightConnector1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5;p14"/>
            <p:cNvSpPr/>
            <p:nvPr/>
          </p:nvSpPr>
          <p:spPr>
            <a:xfrm>
              <a:off x="6885810" y="557049"/>
              <a:ext cx="273900" cy="273900"/>
            </a:xfrm>
            <a:prstGeom prst="ellipse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pic>
        <p:nvPicPr>
          <p:cNvPr id="9" name="Google Shape;55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77015" y="343409"/>
            <a:ext cx="860137" cy="1108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-278" y="133320"/>
            <a:ext cx="8212376" cy="111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ru-RU" sz="4000">
                <a:solidFill>
                  <a:schemeClr val="tx1"/>
                </a:solidFill>
                <a:sym typeface="+mn-ea"/>
              </a:rPr>
              <a:t>Алгоритм 2(генерация временного ряда)</a:t>
            </a:r>
            <a:endParaRPr lang="ru-RU" sz="4000" spc="-100" dirty="0">
              <a:solidFill>
                <a:schemeClr val="tx1"/>
              </a:solidFill>
              <a:latin typeface="+mj-lt"/>
              <a:ea typeface="Roboto Bold" panose="02000000000000000000" pitchFamily="2" charset="0"/>
              <a:cs typeface="+mj-lt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04165" y="1868805"/>
                <a:ext cx="7461250" cy="2322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Муравей размещается на элементе тензора, определяемом начальными условиями (для первого муравья) или уже заполненными позициями (для всех остальных муравьев). В последнем случае из набора уже заполненных наблюдений алгоритм выбирает то, которое непосредственно предшествует первому незаполненному. Это становится следующей стартовой позицией.</a:t>
                </a:r>
                <a:endParaRPr lang="en-US" b="0" i="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Как позиция, в которую проходит муравей, так и интервал, которому принадлежит </a:t>
                </a:r>
                <a:r>
                  <a:rPr lang="ru-RU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значение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соответствующего наблюдения, вероятностно определяются как:</a:t>
                </a:r>
                <a:endParaRPr lang="en-US" b="0" i="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,…,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 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 …,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9"/>
                                    </m:r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m:rPr>
                                  <m:brk m:alnAt="9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9"/>
                                    </m:r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brk m:alnAt="9"/>
                                    </m:r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9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,…,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,…, 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ru-RU" i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65" y="1868805"/>
                <a:ext cx="7461250" cy="23228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3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022760" y="4513699"/>
            <a:ext cx="2013299" cy="5727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Группа 5"/>
          <p:cNvGrpSpPr/>
          <p:nvPr/>
        </p:nvGrpSpPr>
        <p:grpSpPr>
          <a:xfrm>
            <a:off x="0" y="1178311"/>
            <a:ext cx="7183800" cy="273900"/>
            <a:chOff x="-24090" y="557049"/>
            <a:chExt cx="7183800" cy="273900"/>
          </a:xfrm>
        </p:grpSpPr>
        <p:cxnSp>
          <p:nvCxnSpPr>
            <p:cNvPr id="7" name="Google Shape;64;p14"/>
            <p:cNvCxnSpPr>
              <a:endCxn id="8" idx="2"/>
            </p:cNvCxnSpPr>
            <p:nvPr/>
          </p:nvCxnSpPr>
          <p:spPr>
            <a:xfrm>
              <a:off x="-24090" y="693999"/>
              <a:ext cx="6909900" cy="0"/>
            </a:xfrm>
            <a:prstGeom prst="straightConnector1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5;p14"/>
            <p:cNvSpPr/>
            <p:nvPr/>
          </p:nvSpPr>
          <p:spPr>
            <a:xfrm>
              <a:off x="6885810" y="557049"/>
              <a:ext cx="273900" cy="273900"/>
            </a:xfrm>
            <a:prstGeom prst="ellipse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pic>
        <p:nvPicPr>
          <p:cNvPr id="9" name="Google Shape;55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77015" y="343409"/>
            <a:ext cx="860137" cy="1108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-278" y="133320"/>
            <a:ext cx="8212376" cy="111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ru-RU" sz="4000">
                <a:solidFill>
                  <a:schemeClr val="tx1"/>
                </a:solidFill>
                <a:sym typeface="+mn-ea"/>
              </a:rPr>
              <a:t>Алгоритм 2(генерация временного ряда)</a:t>
            </a:r>
            <a:endParaRPr lang="ru-RU" sz="4000" spc="-100" dirty="0">
              <a:solidFill>
                <a:schemeClr val="tx1"/>
              </a:solidFill>
              <a:latin typeface="+mj-lt"/>
              <a:ea typeface="Roboto Bold" panose="02000000000000000000" pitchFamily="2" charset="0"/>
              <a:cs typeface="+mj-lt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04165" y="1868805"/>
                <a:ext cx="7461250" cy="15995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14350" indent="-514350">
                  <a:buFont typeface="+mj-lt"/>
                  <a:buAutoNum type="arabicPeriod" startAt="3"/>
                </a:pP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Если выбранная позиция уже заполнена, перейдите к шагу </a:t>
                </a:r>
                <a:r>
                  <a:rPr lang="en-US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2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, иначе продолж</a:t>
                </a:r>
                <a:r>
                  <a:rPr lang="ru-RU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ить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𝑡</m:t>
                    </m:r>
                    <m:r>
                      <a:rPr lang="en-US" b="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←</m:t>
                    </m:r>
                    <m:r>
                      <a:rPr lang="en-US" b="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𝑡</m:t>
                    </m:r>
                    <m:r>
                      <a:rPr lang="en-US" b="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.</a:t>
                </a:r>
                <a:endParaRPr lang="en-US" b="0" i="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Муравей движется до тех пор, пока расстояние между первой занимаемой им позицией и последней созданной позицией не станет меньше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Если некоторые позиции временного ряда не заполнены, поместит</a:t>
                </a:r>
                <a:r>
                  <a:rPr lang="ru-RU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ь</a:t>
                </a:r>
                <a:r>
                  <a:rPr lang="ru-RU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нового муравья в позицию уже заполненного наблюдения, которое непосредственно предшествует первому незаполненному, и перейдите к шагу 2</a:t>
                </a:r>
                <a:endParaRPr lang="ru-RU" altLang="ru-RU" i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65" y="1868805"/>
                <a:ext cx="7461250" cy="15995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3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022760" y="4513699"/>
            <a:ext cx="2013299" cy="5727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Группа 5"/>
          <p:cNvGrpSpPr/>
          <p:nvPr/>
        </p:nvGrpSpPr>
        <p:grpSpPr>
          <a:xfrm>
            <a:off x="0" y="1178311"/>
            <a:ext cx="7183800" cy="273900"/>
            <a:chOff x="-24090" y="557049"/>
            <a:chExt cx="7183800" cy="273900"/>
          </a:xfrm>
        </p:grpSpPr>
        <p:cxnSp>
          <p:nvCxnSpPr>
            <p:cNvPr id="7" name="Google Shape;64;p14"/>
            <p:cNvCxnSpPr>
              <a:endCxn id="8" idx="2"/>
            </p:cNvCxnSpPr>
            <p:nvPr/>
          </p:nvCxnSpPr>
          <p:spPr>
            <a:xfrm>
              <a:off x="-24090" y="693999"/>
              <a:ext cx="6909900" cy="0"/>
            </a:xfrm>
            <a:prstGeom prst="straightConnector1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5;p14"/>
            <p:cNvSpPr/>
            <p:nvPr/>
          </p:nvSpPr>
          <p:spPr>
            <a:xfrm>
              <a:off x="6885810" y="557049"/>
              <a:ext cx="273900" cy="273900"/>
            </a:xfrm>
            <a:prstGeom prst="ellipse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pic>
        <p:nvPicPr>
          <p:cNvPr id="9" name="Google Shape;55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77015" y="343409"/>
            <a:ext cx="860137" cy="1108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47982" y="286990"/>
            <a:ext cx="8212376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ru-RU" sz="4000" dirty="0" smtClean="0">
                <a:ea typeface="Roboto Bold" panose="02000000000000000000" pitchFamily="2" charset="0"/>
                <a:sym typeface="+mn-ea"/>
              </a:rPr>
              <a:t>Результаты</a:t>
            </a:r>
            <a:endParaRPr lang="ru-RU" sz="4000" spc="-100" dirty="0">
              <a:solidFill>
                <a:schemeClr val="tx1"/>
              </a:solidFill>
              <a:latin typeface="+mj-lt"/>
              <a:ea typeface="Roboto Bold" panose="02000000000000000000" pitchFamily="2" charset="0"/>
              <a:cs typeface="+mj-lt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" y="2834640"/>
            <a:ext cx="4212590" cy="199517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55722" y="1594834"/>
            <a:ext cx="7679410" cy="1168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Данные алгоритмы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были применены для генерации реляционных тензоров для шумных периодических временных рядов, стандартных хаотических временных рядов (сгенерированных системой Лоренца) и реальных хаотических данных (потребление энергии в Испании за период 2012-2014 гг. Согласно ENTSO-E). Все ряды были нормированы таким образом, чтобы их наблюдения принадлежали интервалу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[-1,1]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3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022760" y="4513699"/>
            <a:ext cx="2013299" cy="5727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Группа 5"/>
          <p:cNvGrpSpPr/>
          <p:nvPr/>
        </p:nvGrpSpPr>
        <p:grpSpPr>
          <a:xfrm>
            <a:off x="0" y="1178311"/>
            <a:ext cx="7183800" cy="273900"/>
            <a:chOff x="-24090" y="557049"/>
            <a:chExt cx="7183800" cy="273900"/>
          </a:xfrm>
        </p:grpSpPr>
        <p:cxnSp>
          <p:nvCxnSpPr>
            <p:cNvPr id="7" name="Google Shape;64;p14"/>
            <p:cNvCxnSpPr>
              <a:endCxn id="8" idx="2"/>
            </p:cNvCxnSpPr>
            <p:nvPr/>
          </p:nvCxnSpPr>
          <p:spPr>
            <a:xfrm>
              <a:off x="-24090" y="693999"/>
              <a:ext cx="6909900" cy="0"/>
            </a:xfrm>
            <a:prstGeom prst="straightConnector1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5;p14"/>
            <p:cNvSpPr/>
            <p:nvPr/>
          </p:nvSpPr>
          <p:spPr>
            <a:xfrm>
              <a:off x="6885810" y="557049"/>
              <a:ext cx="273900" cy="273900"/>
            </a:xfrm>
            <a:prstGeom prst="ellipse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pic>
        <p:nvPicPr>
          <p:cNvPr id="9" name="Google Shape;55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77015" y="343409"/>
            <a:ext cx="860137" cy="1108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-278" y="133320"/>
            <a:ext cx="8212376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ru-RU" sz="4000" dirty="0" smtClean="0">
                <a:ea typeface="Roboto Bold" panose="02000000000000000000" pitchFamily="2" charset="0"/>
                <a:sym typeface="+mn-ea"/>
              </a:rPr>
              <a:t>Результаты</a:t>
            </a:r>
            <a:endParaRPr lang="ru-RU" sz="4000" spc="-100" dirty="0">
              <a:solidFill>
                <a:schemeClr val="tx1"/>
              </a:solidFill>
              <a:latin typeface="+mj-lt"/>
              <a:ea typeface="Roboto Bold" panose="02000000000000000000" pitchFamily="2" charset="0"/>
              <a:cs typeface="+mj-lt"/>
            </a:endParaRPr>
          </a:p>
        </p:txBody>
      </p:sp>
      <p:pic>
        <p:nvPicPr>
          <p:cNvPr id="11" name="Объект 4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70" y="1452211"/>
            <a:ext cx="2874238" cy="3256927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3720790" y="2256824"/>
                <a:ext cx="4572000" cy="7386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ru-RU" dirty="0">
                    <a:solidFill>
                      <a:srgbClr val="252525"/>
                    </a:solidFill>
                    <a:latin typeface="Roboto" panose="02000000000000000000" pitchFamily="2" charset="0"/>
                  </a:rPr>
                  <a:t>Средняя квадратичная ошибка для сгенерированного временного ряда при значениях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252525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solidFill>
                          <a:srgbClr val="252525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srgbClr val="25252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25252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solidFill>
                              <a:srgbClr val="252525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solidFill>
                              <a:srgbClr val="252525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solidFill>
                              <a:srgbClr val="252525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solidFill>
                              <a:srgbClr val="252525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solidFill>
                              <a:srgbClr val="252525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solidFill>
                              <a:srgbClr val="252525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i="1">
                            <a:solidFill>
                              <a:srgbClr val="252525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solidFill>
                              <a:srgbClr val="252525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US" i="1">
                        <a:solidFill>
                          <a:srgbClr val="252525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solidFill>
                          <a:srgbClr val="252525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solidFill>
                          <a:srgbClr val="252525"/>
                        </a:solidFill>
                        <a:latin typeface="Cambria Math" panose="02040503050406030204" pitchFamily="18" charset="0"/>
                      </a:rPr>
                      <m:t>∈{</m:t>
                    </m:r>
                    <m:r>
                      <a:rPr lang="en-US" i="1">
                        <a:solidFill>
                          <a:srgbClr val="252525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i="1">
                        <a:solidFill>
                          <a:srgbClr val="252525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i="1">
                        <a:solidFill>
                          <a:srgbClr val="252525"/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a:rPr lang="en-US" i="1">
                        <a:solidFill>
                          <a:srgbClr val="252525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i="1">
                        <a:solidFill>
                          <a:srgbClr val="252525"/>
                        </a:solidFill>
                        <a:latin typeface="Cambria Math" panose="02040503050406030204" pitchFamily="18" charset="0"/>
                      </a:rPr>
                      <m:t>1250</m:t>
                    </m:r>
                    <m:r>
                      <a:rPr lang="en-US" i="1">
                        <a:solidFill>
                          <a:srgbClr val="252525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i="1">
                        <a:solidFill>
                          <a:srgbClr val="252525"/>
                        </a:solidFill>
                        <a:latin typeface="Cambria Math" panose="02040503050406030204" pitchFamily="18" charset="0"/>
                      </a:rPr>
                      <m:t>2000</m:t>
                    </m:r>
                    <m:r>
                      <a:rPr lang="en-US" i="1">
                        <a:solidFill>
                          <a:srgbClr val="252525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790" y="2256824"/>
                <a:ext cx="4572000" cy="738664"/>
              </a:xfrm>
              <a:prstGeom prst="rect">
                <a:avLst/>
              </a:prstGeom>
              <a:blipFill rotWithShape="1">
                <a:blip r:embed="rId4"/>
                <a:stretch>
                  <a:fillRect l="-7" t="-5" r="7" b="26"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3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022760" y="4513699"/>
            <a:ext cx="2013299" cy="5727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Группа 5"/>
          <p:cNvGrpSpPr/>
          <p:nvPr/>
        </p:nvGrpSpPr>
        <p:grpSpPr>
          <a:xfrm>
            <a:off x="0" y="1178311"/>
            <a:ext cx="7183800" cy="273900"/>
            <a:chOff x="-24090" y="557049"/>
            <a:chExt cx="7183800" cy="273900"/>
          </a:xfrm>
        </p:grpSpPr>
        <p:cxnSp>
          <p:nvCxnSpPr>
            <p:cNvPr id="7" name="Google Shape;64;p14"/>
            <p:cNvCxnSpPr>
              <a:endCxn id="8" idx="2"/>
            </p:cNvCxnSpPr>
            <p:nvPr/>
          </p:nvCxnSpPr>
          <p:spPr>
            <a:xfrm>
              <a:off x="-24090" y="693999"/>
              <a:ext cx="6909900" cy="0"/>
            </a:xfrm>
            <a:prstGeom prst="straightConnector1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5;p14"/>
            <p:cNvSpPr/>
            <p:nvPr/>
          </p:nvSpPr>
          <p:spPr>
            <a:xfrm>
              <a:off x="6885810" y="557049"/>
              <a:ext cx="273900" cy="273900"/>
            </a:xfrm>
            <a:prstGeom prst="ellipse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pic>
        <p:nvPicPr>
          <p:cNvPr id="9" name="Google Shape;55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77015" y="343409"/>
            <a:ext cx="860137" cy="1108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-278" y="133320"/>
            <a:ext cx="8212376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ru-RU" sz="4000" dirty="0" smtClean="0">
                <a:ea typeface="Roboto Bold" panose="02000000000000000000" pitchFamily="2" charset="0"/>
                <a:sym typeface="+mn-ea"/>
              </a:rPr>
              <a:t>Результаты</a:t>
            </a:r>
            <a:endParaRPr lang="ru-RU" sz="4000" spc="-100" dirty="0">
              <a:solidFill>
                <a:schemeClr val="tx1"/>
              </a:solidFill>
              <a:latin typeface="+mj-lt"/>
              <a:ea typeface="Roboto Bold" panose="02000000000000000000" pitchFamily="2" charset="0"/>
              <a:cs typeface="+mj-lt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60" y="1578963"/>
            <a:ext cx="4106639" cy="2094386"/>
          </a:xfrm>
          <a:prstGeom prst="rect">
            <a:avLst/>
          </a:prstGeom>
          <a:ln>
            <a:noFill/>
          </a:ln>
        </p:spPr>
      </p:pic>
      <p:sp>
        <p:nvSpPr>
          <p:cNvPr id="4" name="Прямоугольник 3"/>
          <p:cNvSpPr/>
          <p:nvPr/>
        </p:nvSpPr>
        <p:spPr>
          <a:xfrm>
            <a:off x="4449140" y="1891908"/>
            <a:ext cx="3580269" cy="1168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Типичный разрез ряда Лоренца (синяя сплошная линия) и соответствующие прогнозируемые значения (красная пунктирная линия) для прогнозирования на 10 шагов вперед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3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022760" y="4513699"/>
            <a:ext cx="2013299" cy="5727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Группа 5"/>
          <p:cNvGrpSpPr/>
          <p:nvPr/>
        </p:nvGrpSpPr>
        <p:grpSpPr>
          <a:xfrm>
            <a:off x="0" y="1178311"/>
            <a:ext cx="7183800" cy="273900"/>
            <a:chOff x="-24090" y="557049"/>
            <a:chExt cx="7183800" cy="273900"/>
          </a:xfrm>
        </p:grpSpPr>
        <p:cxnSp>
          <p:nvCxnSpPr>
            <p:cNvPr id="7" name="Google Shape;64;p14"/>
            <p:cNvCxnSpPr>
              <a:endCxn id="8" idx="2"/>
            </p:cNvCxnSpPr>
            <p:nvPr/>
          </p:nvCxnSpPr>
          <p:spPr>
            <a:xfrm>
              <a:off x="-24090" y="693999"/>
              <a:ext cx="6909900" cy="0"/>
            </a:xfrm>
            <a:prstGeom prst="straightConnector1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5;p14"/>
            <p:cNvSpPr/>
            <p:nvPr/>
          </p:nvSpPr>
          <p:spPr>
            <a:xfrm>
              <a:off x="6885810" y="557049"/>
              <a:ext cx="273900" cy="273900"/>
            </a:xfrm>
            <a:prstGeom prst="ellipse">
              <a:avLst/>
            </a:prstGeom>
            <a:noFill/>
            <a:ln w="76200" cap="flat" cmpd="sng">
              <a:solidFill>
                <a:srgbClr val="F9C00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pic>
        <p:nvPicPr>
          <p:cNvPr id="9" name="Google Shape;55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77015" y="343409"/>
            <a:ext cx="860137" cy="1108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-278" y="133320"/>
            <a:ext cx="8212376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ru-RU" sz="4000" dirty="0" smtClean="0">
                <a:ea typeface="Roboto Bold" panose="02000000000000000000" pitchFamily="2" charset="0"/>
                <a:sym typeface="+mn-ea"/>
              </a:rPr>
              <a:t>Вывод</a:t>
            </a:r>
            <a:endParaRPr lang="ru-RU" sz="4000" spc="-100" dirty="0">
              <a:solidFill>
                <a:schemeClr val="tx1"/>
              </a:solidFill>
              <a:latin typeface="+mj-lt"/>
              <a:ea typeface="Roboto Bold" panose="02000000000000000000" pitchFamily="2" charset="0"/>
              <a:cs typeface="+mj-lt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758144" y="1746172"/>
            <a:ext cx="6151756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dirty="0">
                <a:latin typeface="Roboto" panose="02000000000000000000" pitchFamily="2" charset="0"/>
              </a:rPr>
              <a:t>В этой статье авторы рассмотрели реляционный тензорный подход для представления информации о временных рядах. Методы основаны на оптимизации муравьиной колонии, что позволяет использовать и хранить только мотивы, наблюдаемые в рассматриваемых рядах, и тем самым разрабатывать быстрые и эффективные алгоритмы, избегая комбинаторного взрыва.</a:t>
            </a:r>
            <a:endParaRPr lang="ru-RU" dirty="0"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dirty="0">
                <a:latin typeface="Roboto" panose="02000000000000000000" pitchFamily="2" charset="0"/>
              </a:rPr>
              <a:t>Для хаотических временных рядов разница между характеристиками исходного временного ряда и характеристиками временного ряда, восстановленного из структуры, использовалась для оценки эффективности рассматриваемого алгоритма. В качестве альтернативы можно использовать среднюю ошибку предсказания.</a:t>
            </a:r>
            <a:endParaRPr lang="ru-RU" dirty="0"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dirty="0">
                <a:latin typeface="Roboto" panose="02000000000000000000" pitchFamily="2" charset="0"/>
              </a:rPr>
              <a:t>Подход показал довольно хорошие результаты и удовлетворительны</a:t>
            </a:r>
            <a:r>
              <a:rPr lang="en-US" dirty="0">
                <a:latin typeface="Roboto" panose="02000000000000000000" pitchFamily="2" charset="0"/>
              </a:rPr>
              <a:t> </a:t>
            </a:r>
            <a:r>
              <a:rPr lang="ru-RU" dirty="0">
                <a:latin typeface="Roboto" panose="02000000000000000000" pitchFamily="2" charset="0"/>
              </a:rPr>
              <a:t>для реальных хаотических данных.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14296</Words>
  <Application>WPS Presentation</Application>
  <PresentationFormat>Экран (16:9)</PresentationFormat>
  <Paragraphs>268</Paragraphs>
  <Slides>27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8" baseType="lpstr">
      <vt:lpstr>Arial</vt:lpstr>
      <vt:lpstr>SimSun</vt:lpstr>
      <vt:lpstr>Wingdings</vt:lpstr>
      <vt:lpstr>Arial</vt:lpstr>
      <vt:lpstr>Roboto Bold</vt:lpstr>
      <vt:lpstr>Wide Latin</vt:lpstr>
      <vt:lpstr>Cambria Math</vt:lpstr>
      <vt:lpstr>MS Mincho</vt:lpstr>
      <vt:lpstr>Microsoft YaHei</vt:lpstr>
      <vt:lpstr>Arial Unicode MS</vt:lpstr>
      <vt:lpstr>BatangChe</vt:lpstr>
      <vt:lpstr>Segoe Print</vt:lpstr>
      <vt:lpstr>Calibri Light</vt:lpstr>
      <vt:lpstr>Roboto Bold</vt:lpstr>
      <vt:lpstr>Roboto Light</vt:lpstr>
      <vt:lpstr>Roboto Medium</vt:lpstr>
      <vt:lpstr>DejaVu Sans</vt:lpstr>
      <vt:lpstr>Calibri</vt:lpstr>
      <vt:lpstr>Roboto</vt:lpstr>
      <vt:lpstr>Times New Roman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>vladi</cp:lastModifiedBy>
  <cp:revision>78</cp:revision>
  <dcterms:created xsi:type="dcterms:W3CDTF">2022-12-06T19:02:00Z</dcterms:created>
  <dcterms:modified xsi:type="dcterms:W3CDTF">2022-12-07T11:24:22Z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9E0482981FFB420A9965E673B7564EEF</vt:lpwstr>
  </property>
  <property fmtid="{D5CDD505-2E9C-101B-9397-08002B2CF9AE}" pid="3" name="KSOProductBuildVer">
    <vt:lpwstr>1049-11.2.0.11417</vt:lpwstr>
  </property>
</Properties>
</file>